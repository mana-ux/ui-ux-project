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5.svg" ContentType="image/svg+xml"/>
  <Override PartName="/ppt/media/image20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8288000" cy="10287000"/>
  <p:notesSz cx="6858000" cy="9144000"/>
  <p:embeddedFontLst>
    <p:embeddedFont>
      <p:font typeface="Poppins Light" panose="00000400000000000000"/>
      <p:regular r:id="rId23"/>
    </p:embeddedFont>
    <p:embeddedFont>
      <p:font typeface="Poppins Bold" panose="00000800000000000000"/>
      <p:bold r:id="rId24"/>
    </p:embeddedFont>
    <p:embeddedFont>
      <p:font typeface="Poppins" panose="00000500000000000000"/>
      <p:regular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31" d="100"/>
          <a:sy n="31" d="100"/>
        </p:scale>
        <p:origin x="1042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1.svg"/><Relationship Id="rId6" Type="http://schemas.openxmlformats.org/officeDocument/2006/relationships/image" Target="../media/image30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38200" y="419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7578" r="-9301" b="-3350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381000" y="85090"/>
            <a:ext cx="13690614" cy="10287000"/>
            <a:chOff x="0" y="0"/>
            <a:chExt cx="898908" cy="6754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8908" cy="675431"/>
            </a:xfrm>
            <a:custGeom>
              <a:avLst/>
              <a:gdLst/>
              <a:ahLst/>
              <a:cxnLst/>
              <a:rect l="l" t="t" r="r" b="b"/>
              <a:pathLst>
                <a:path w="898908" h="675431">
                  <a:moveTo>
                    <a:pt x="0" y="0"/>
                  </a:moveTo>
                  <a:lnTo>
                    <a:pt x="898908" y="0"/>
                  </a:lnTo>
                  <a:lnTo>
                    <a:pt x="898908" y="675431"/>
                  </a:lnTo>
                  <a:lnTo>
                    <a:pt x="0" y="675431"/>
                  </a:ln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50000">
                  <a:srgbClr val="00477B">
                    <a:alpha val="79500"/>
                  </a:srgbClr>
                </a:gs>
                <a:gs pos="100000">
                  <a:srgbClr val="00477B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8908" cy="713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81135" y="8183853"/>
            <a:ext cx="11977074" cy="1002215"/>
            <a:chOff x="0" y="0"/>
            <a:chExt cx="3154456" cy="2639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54456" cy="263958"/>
            </a:xfrm>
            <a:custGeom>
              <a:avLst/>
              <a:gdLst/>
              <a:ahLst/>
              <a:cxnLst/>
              <a:rect l="l" t="t" r="r" b="b"/>
              <a:pathLst>
                <a:path w="3154456" h="263958">
                  <a:moveTo>
                    <a:pt x="64639" y="0"/>
                  </a:moveTo>
                  <a:lnTo>
                    <a:pt x="3089816" y="0"/>
                  </a:lnTo>
                  <a:cubicBezTo>
                    <a:pt x="3106960" y="0"/>
                    <a:pt x="3123401" y="6810"/>
                    <a:pt x="3135523" y="18932"/>
                  </a:cubicBezTo>
                  <a:cubicBezTo>
                    <a:pt x="3147645" y="31055"/>
                    <a:pt x="3154456" y="47496"/>
                    <a:pt x="3154456" y="64639"/>
                  </a:cubicBezTo>
                  <a:lnTo>
                    <a:pt x="3154456" y="199318"/>
                  </a:lnTo>
                  <a:cubicBezTo>
                    <a:pt x="3154456" y="216462"/>
                    <a:pt x="3147645" y="232903"/>
                    <a:pt x="3135523" y="245025"/>
                  </a:cubicBezTo>
                  <a:cubicBezTo>
                    <a:pt x="3123401" y="257148"/>
                    <a:pt x="3106960" y="263958"/>
                    <a:pt x="3089816" y="263958"/>
                  </a:cubicBezTo>
                  <a:lnTo>
                    <a:pt x="64639" y="263958"/>
                  </a:lnTo>
                  <a:cubicBezTo>
                    <a:pt x="47496" y="263958"/>
                    <a:pt x="31055" y="257148"/>
                    <a:pt x="18932" y="245025"/>
                  </a:cubicBezTo>
                  <a:cubicBezTo>
                    <a:pt x="6810" y="232903"/>
                    <a:pt x="0" y="216462"/>
                    <a:pt x="0" y="199318"/>
                  </a:cubicBezTo>
                  <a:lnTo>
                    <a:pt x="0" y="64639"/>
                  </a:lnTo>
                  <a:cubicBezTo>
                    <a:pt x="0" y="47496"/>
                    <a:pt x="6810" y="31055"/>
                    <a:pt x="18932" y="18932"/>
                  </a:cubicBezTo>
                  <a:cubicBezTo>
                    <a:pt x="31055" y="6810"/>
                    <a:pt x="47496" y="0"/>
                    <a:pt x="6463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4F1FA">
                    <a:alpha val="100000"/>
                  </a:srgbClr>
                </a:gs>
                <a:gs pos="100000">
                  <a:srgbClr val="02487C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154456" cy="302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200" y="8266430"/>
            <a:ext cx="631190" cy="894715"/>
            <a:chOff x="0" y="0"/>
            <a:chExt cx="166210" cy="2639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6210" cy="263958"/>
            </a:xfrm>
            <a:custGeom>
              <a:avLst/>
              <a:gdLst/>
              <a:ahLst/>
              <a:cxnLst/>
              <a:rect l="l" t="t" r="r" b="b"/>
              <a:pathLst>
                <a:path w="166210" h="263958">
                  <a:moveTo>
                    <a:pt x="0" y="0"/>
                  </a:moveTo>
                  <a:lnTo>
                    <a:pt x="166210" y="0"/>
                  </a:lnTo>
                  <a:lnTo>
                    <a:pt x="166210" y="263958"/>
                  </a:lnTo>
                  <a:lnTo>
                    <a:pt x="0" y="2639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6210" cy="302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6263356" y="8244448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3" y="0"/>
                </a:lnTo>
                <a:lnTo>
                  <a:pt x="1727053" y="1751131"/>
                </a:lnTo>
                <a:lnTo>
                  <a:pt x="0" y="1751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547913" y="3465305"/>
            <a:ext cx="7771879" cy="639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90"/>
              </a:lnSpc>
              <a:spcBef>
                <a:spcPct val="0"/>
              </a:spcBef>
            </a:pPr>
            <a:r>
              <a:rPr lang="en-US" sz="378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MediFlow+</a:t>
            </a:r>
            <a:endParaRPr lang="en-US" sz="3780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47913" y="4706294"/>
            <a:ext cx="7771879" cy="639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90"/>
              </a:lnSpc>
              <a:spcBef>
                <a:spcPct val="0"/>
              </a:spcBef>
            </a:pPr>
            <a:r>
              <a:rPr lang="en-US" sz="378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Hospital &amp; Healthcare</a:t>
            </a:r>
            <a:endParaRPr lang="en-US" sz="3780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47913" y="5954096"/>
            <a:ext cx="7771879" cy="639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90"/>
              </a:lnSpc>
              <a:spcBef>
                <a:spcPct val="0"/>
              </a:spcBef>
            </a:pPr>
            <a:r>
              <a:rPr lang="en-US" sz="378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Management System</a:t>
            </a:r>
            <a:endParaRPr lang="en-US" sz="3780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47913" y="8215873"/>
            <a:ext cx="8079592" cy="43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60"/>
              </a:lnSpc>
              <a:spcBef>
                <a:spcPct val="0"/>
              </a:spcBef>
            </a:pPr>
            <a:r>
              <a:rPr lang="en-US" sz="1255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Intelligent, Connected and Patient-Centred Healthcare  |  UX &amp; Interface Design  |  ICST University Park  |  S.Dharshika · IF.Ifra · JF.Ashra · AM.Rose Meha · MM.Manasir · MIM.Athnan</a:t>
            </a:r>
            <a:endParaRPr lang="en-US" sz="1255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857567"/>
            <a:ext cx="187135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ICST University Park</a:t>
            </a:r>
            <a:endParaRPr lang="en-US" sz="1200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691152"/>
            <a:ext cx="18288000" cy="6595848"/>
            <a:chOff x="0" y="0"/>
            <a:chExt cx="1241078" cy="447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1078" cy="447614"/>
            </a:xfrm>
            <a:custGeom>
              <a:avLst/>
              <a:gdLst/>
              <a:ahLst/>
              <a:cxnLst/>
              <a:rect l="l" t="t" r="r" b="b"/>
              <a:pathLst>
                <a:path w="1241078" h="447614">
                  <a:moveTo>
                    <a:pt x="0" y="0"/>
                  </a:moveTo>
                  <a:lnTo>
                    <a:pt x="1241078" y="0"/>
                  </a:lnTo>
                  <a:lnTo>
                    <a:pt x="1241078" y="447614"/>
                  </a:lnTo>
                  <a:lnTo>
                    <a:pt x="0" y="447614"/>
                  </a:ln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41078" cy="485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47913" y="4951676"/>
            <a:ext cx="4541511" cy="4033762"/>
            <a:chOff x="0" y="0"/>
            <a:chExt cx="1196118" cy="10623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6118" cy="1062390"/>
            </a:xfrm>
            <a:custGeom>
              <a:avLst/>
              <a:gdLst/>
              <a:ahLst/>
              <a:cxnLst/>
              <a:rect l="l" t="t" r="r" b="b"/>
              <a:pathLst>
                <a:path w="1196118" h="1062390">
                  <a:moveTo>
                    <a:pt x="52846" y="0"/>
                  </a:moveTo>
                  <a:lnTo>
                    <a:pt x="1143273" y="0"/>
                  </a:lnTo>
                  <a:cubicBezTo>
                    <a:pt x="1172458" y="0"/>
                    <a:pt x="1196118" y="23660"/>
                    <a:pt x="1196118" y="52846"/>
                  </a:cubicBezTo>
                  <a:lnTo>
                    <a:pt x="1196118" y="1009544"/>
                  </a:lnTo>
                  <a:cubicBezTo>
                    <a:pt x="1196118" y="1023560"/>
                    <a:pt x="1190551" y="1037001"/>
                    <a:pt x="1180640" y="1046912"/>
                  </a:cubicBezTo>
                  <a:cubicBezTo>
                    <a:pt x="1170730" y="1056822"/>
                    <a:pt x="1157288" y="1062390"/>
                    <a:pt x="1143273" y="1062390"/>
                  </a:cubicBezTo>
                  <a:lnTo>
                    <a:pt x="52846" y="1062390"/>
                  </a:lnTo>
                  <a:cubicBezTo>
                    <a:pt x="23660" y="1062390"/>
                    <a:pt x="0" y="1038730"/>
                    <a:pt x="0" y="1009544"/>
                  </a:cubicBezTo>
                  <a:lnTo>
                    <a:pt x="0" y="52846"/>
                  </a:lnTo>
                  <a:cubicBezTo>
                    <a:pt x="0" y="23660"/>
                    <a:pt x="23660" y="0"/>
                    <a:pt x="52846" y="0"/>
                  </a:cubicBezTo>
                  <a:close/>
                </a:path>
              </a:pathLst>
            </a:custGeom>
            <a:solidFill>
              <a:srgbClr val="FAFAF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6118" cy="1100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50688" y="4388602"/>
            <a:ext cx="1135962" cy="1126149"/>
            <a:chOff x="0" y="0"/>
            <a:chExt cx="299183" cy="2965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9183" cy="296599"/>
            </a:xfrm>
            <a:custGeom>
              <a:avLst/>
              <a:gdLst/>
              <a:ahLst/>
              <a:cxnLst/>
              <a:rect l="l" t="t" r="r" b="b"/>
              <a:pathLst>
                <a:path w="299183" h="296599">
                  <a:moveTo>
                    <a:pt x="136306" y="0"/>
                  </a:moveTo>
                  <a:lnTo>
                    <a:pt x="162877" y="0"/>
                  </a:lnTo>
                  <a:cubicBezTo>
                    <a:pt x="238157" y="0"/>
                    <a:pt x="299183" y="61026"/>
                    <a:pt x="299183" y="136306"/>
                  </a:cubicBezTo>
                  <a:lnTo>
                    <a:pt x="299183" y="160293"/>
                  </a:lnTo>
                  <a:cubicBezTo>
                    <a:pt x="299183" y="196444"/>
                    <a:pt x="284823" y="231113"/>
                    <a:pt x="259260" y="256676"/>
                  </a:cubicBezTo>
                  <a:cubicBezTo>
                    <a:pt x="233698" y="282238"/>
                    <a:pt x="199028" y="296599"/>
                    <a:pt x="162877" y="296599"/>
                  </a:cubicBezTo>
                  <a:lnTo>
                    <a:pt x="136306" y="296599"/>
                  </a:lnTo>
                  <a:cubicBezTo>
                    <a:pt x="100155" y="296599"/>
                    <a:pt x="65485" y="282238"/>
                    <a:pt x="39923" y="256676"/>
                  </a:cubicBezTo>
                  <a:cubicBezTo>
                    <a:pt x="14361" y="231113"/>
                    <a:pt x="0" y="196444"/>
                    <a:pt x="0" y="160293"/>
                  </a:cubicBezTo>
                  <a:lnTo>
                    <a:pt x="0" y="136306"/>
                  </a:lnTo>
                  <a:cubicBezTo>
                    <a:pt x="0" y="100155"/>
                    <a:pt x="14361" y="65485"/>
                    <a:pt x="39923" y="39923"/>
                  </a:cubicBezTo>
                  <a:cubicBezTo>
                    <a:pt x="65485" y="14361"/>
                    <a:pt x="100155" y="0"/>
                    <a:pt x="1363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99183" cy="334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73244" y="4951676"/>
            <a:ext cx="4541511" cy="4033762"/>
            <a:chOff x="0" y="0"/>
            <a:chExt cx="1196118" cy="10623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96118" cy="1062390"/>
            </a:xfrm>
            <a:custGeom>
              <a:avLst/>
              <a:gdLst/>
              <a:ahLst/>
              <a:cxnLst/>
              <a:rect l="l" t="t" r="r" b="b"/>
              <a:pathLst>
                <a:path w="1196118" h="1062390">
                  <a:moveTo>
                    <a:pt x="52846" y="0"/>
                  </a:moveTo>
                  <a:lnTo>
                    <a:pt x="1143273" y="0"/>
                  </a:lnTo>
                  <a:cubicBezTo>
                    <a:pt x="1172458" y="0"/>
                    <a:pt x="1196118" y="23660"/>
                    <a:pt x="1196118" y="52846"/>
                  </a:cubicBezTo>
                  <a:lnTo>
                    <a:pt x="1196118" y="1009544"/>
                  </a:lnTo>
                  <a:cubicBezTo>
                    <a:pt x="1196118" y="1023560"/>
                    <a:pt x="1190551" y="1037001"/>
                    <a:pt x="1180640" y="1046912"/>
                  </a:cubicBezTo>
                  <a:cubicBezTo>
                    <a:pt x="1170730" y="1056822"/>
                    <a:pt x="1157288" y="1062390"/>
                    <a:pt x="1143273" y="1062390"/>
                  </a:cubicBezTo>
                  <a:lnTo>
                    <a:pt x="52846" y="1062390"/>
                  </a:lnTo>
                  <a:cubicBezTo>
                    <a:pt x="23660" y="1062390"/>
                    <a:pt x="0" y="1038730"/>
                    <a:pt x="0" y="1009544"/>
                  </a:cubicBezTo>
                  <a:lnTo>
                    <a:pt x="0" y="52846"/>
                  </a:lnTo>
                  <a:cubicBezTo>
                    <a:pt x="0" y="23660"/>
                    <a:pt x="23660" y="0"/>
                    <a:pt x="52846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96118" cy="1100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98575" y="4951676"/>
            <a:ext cx="4541511" cy="4033762"/>
            <a:chOff x="0" y="0"/>
            <a:chExt cx="1196118" cy="10623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96118" cy="1062390"/>
            </a:xfrm>
            <a:custGeom>
              <a:avLst/>
              <a:gdLst/>
              <a:ahLst/>
              <a:cxnLst/>
              <a:rect l="l" t="t" r="r" b="b"/>
              <a:pathLst>
                <a:path w="1196118" h="1062390">
                  <a:moveTo>
                    <a:pt x="52846" y="0"/>
                  </a:moveTo>
                  <a:lnTo>
                    <a:pt x="1143273" y="0"/>
                  </a:lnTo>
                  <a:cubicBezTo>
                    <a:pt x="1172458" y="0"/>
                    <a:pt x="1196118" y="23660"/>
                    <a:pt x="1196118" y="52846"/>
                  </a:cubicBezTo>
                  <a:lnTo>
                    <a:pt x="1196118" y="1009544"/>
                  </a:lnTo>
                  <a:cubicBezTo>
                    <a:pt x="1196118" y="1023560"/>
                    <a:pt x="1190551" y="1037001"/>
                    <a:pt x="1180640" y="1046912"/>
                  </a:cubicBezTo>
                  <a:cubicBezTo>
                    <a:pt x="1170730" y="1056822"/>
                    <a:pt x="1157288" y="1062390"/>
                    <a:pt x="1143273" y="1062390"/>
                  </a:cubicBezTo>
                  <a:lnTo>
                    <a:pt x="52846" y="1062390"/>
                  </a:lnTo>
                  <a:cubicBezTo>
                    <a:pt x="23660" y="1062390"/>
                    <a:pt x="0" y="1038730"/>
                    <a:pt x="0" y="1009544"/>
                  </a:cubicBezTo>
                  <a:lnTo>
                    <a:pt x="0" y="52846"/>
                  </a:lnTo>
                  <a:cubicBezTo>
                    <a:pt x="0" y="23660"/>
                    <a:pt x="23660" y="0"/>
                    <a:pt x="52846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96118" cy="1100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576019" y="4388602"/>
            <a:ext cx="1135962" cy="1126149"/>
            <a:chOff x="0" y="0"/>
            <a:chExt cx="299183" cy="2965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9183" cy="296599"/>
            </a:xfrm>
            <a:custGeom>
              <a:avLst/>
              <a:gdLst/>
              <a:ahLst/>
              <a:cxnLst/>
              <a:rect l="l" t="t" r="r" b="b"/>
              <a:pathLst>
                <a:path w="299183" h="296599">
                  <a:moveTo>
                    <a:pt x="136306" y="0"/>
                  </a:moveTo>
                  <a:lnTo>
                    <a:pt x="162877" y="0"/>
                  </a:lnTo>
                  <a:cubicBezTo>
                    <a:pt x="238157" y="0"/>
                    <a:pt x="299183" y="61026"/>
                    <a:pt x="299183" y="136306"/>
                  </a:cubicBezTo>
                  <a:lnTo>
                    <a:pt x="299183" y="160293"/>
                  </a:lnTo>
                  <a:cubicBezTo>
                    <a:pt x="299183" y="196444"/>
                    <a:pt x="284823" y="231113"/>
                    <a:pt x="259260" y="256676"/>
                  </a:cubicBezTo>
                  <a:cubicBezTo>
                    <a:pt x="233698" y="282238"/>
                    <a:pt x="199028" y="296599"/>
                    <a:pt x="162877" y="296599"/>
                  </a:cubicBezTo>
                  <a:lnTo>
                    <a:pt x="136306" y="296599"/>
                  </a:lnTo>
                  <a:cubicBezTo>
                    <a:pt x="100155" y="296599"/>
                    <a:pt x="65485" y="282238"/>
                    <a:pt x="39923" y="256676"/>
                  </a:cubicBezTo>
                  <a:cubicBezTo>
                    <a:pt x="14361" y="231113"/>
                    <a:pt x="0" y="196444"/>
                    <a:pt x="0" y="160293"/>
                  </a:cubicBezTo>
                  <a:lnTo>
                    <a:pt x="0" y="136306"/>
                  </a:lnTo>
                  <a:cubicBezTo>
                    <a:pt x="0" y="100155"/>
                    <a:pt x="14361" y="65485"/>
                    <a:pt x="39923" y="39923"/>
                  </a:cubicBezTo>
                  <a:cubicBezTo>
                    <a:pt x="65485" y="14361"/>
                    <a:pt x="100155" y="0"/>
                    <a:pt x="1363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99183" cy="334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901350" y="4388602"/>
            <a:ext cx="1135962" cy="1126149"/>
            <a:chOff x="0" y="0"/>
            <a:chExt cx="299183" cy="29659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9183" cy="296599"/>
            </a:xfrm>
            <a:custGeom>
              <a:avLst/>
              <a:gdLst/>
              <a:ahLst/>
              <a:cxnLst/>
              <a:rect l="l" t="t" r="r" b="b"/>
              <a:pathLst>
                <a:path w="299183" h="296599">
                  <a:moveTo>
                    <a:pt x="136306" y="0"/>
                  </a:moveTo>
                  <a:lnTo>
                    <a:pt x="162877" y="0"/>
                  </a:lnTo>
                  <a:cubicBezTo>
                    <a:pt x="238157" y="0"/>
                    <a:pt x="299183" y="61026"/>
                    <a:pt x="299183" y="136306"/>
                  </a:cubicBezTo>
                  <a:lnTo>
                    <a:pt x="299183" y="160293"/>
                  </a:lnTo>
                  <a:cubicBezTo>
                    <a:pt x="299183" y="196444"/>
                    <a:pt x="284823" y="231113"/>
                    <a:pt x="259260" y="256676"/>
                  </a:cubicBezTo>
                  <a:cubicBezTo>
                    <a:pt x="233698" y="282238"/>
                    <a:pt x="199028" y="296599"/>
                    <a:pt x="162877" y="296599"/>
                  </a:cubicBezTo>
                  <a:lnTo>
                    <a:pt x="136306" y="296599"/>
                  </a:lnTo>
                  <a:cubicBezTo>
                    <a:pt x="100155" y="296599"/>
                    <a:pt x="65485" y="282238"/>
                    <a:pt x="39923" y="256676"/>
                  </a:cubicBezTo>
                  <a:cubicBezTo>
                    <a:pt x="14361" y="231113"/>
                    <a:pt x="0" y="196444"/>
                    <a:pt x="0" y="160293"/>
                  </a:cubicBezTo>
                  <a:lnTo>
                    <a:pt x="0" y="136306"/>
                  </a:lnTo>
                  <a:cubicBezTo>
                    <a:pt x="0" y="100155"/>
                    <a:pt x="14361" y="65485"/>
                    <a:pt x="39923" y="39923"/>
                  </a:cubicBezTo>
                  <a:cubicBezTo>
                    <a:pt x="65485" y="14361"/>
                    <a:pt x="100155" y="0"/>
                    <a:pt x="1363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99183" cy="334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23" name="Freeform 23"/>
          <p:cNvSpPr/>
          <p:nvPr/>
        </p:nvSpPr>
        <p:spPr>
          <a:xfrm>
            <a:off x="3495513" y="4597930"/>
            <a:ext cx="651051" cy="802562"/>
          </a:xfrm>
          <a:custGeom>
            <a:avLst/>
            <a:gdLst/>
            <a:ahLst/>
            <a:cxnLst/>
            <a:rect l="l" t="t" r="r" b="b"/>
            <a:pathLst>
              <a:path w="651051" h="802562">
                <a:moveTo>
                  <a:pt x="0" y="0"/>
                </a:moveTo>
                <a:lnTo>
                  <a:pt x="651051" y="0"/>
                </a:lnTo>
                <a:lnTo>
                  <a:pt x="651051" y="802562"/>
                </a:lnTo>
                <a:lnTo>
                  <a:pt x="0" y="80256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8826321" y="4627994"/>
            <a:ext cx="615878" cy="620116"/>
          </a:xfrm>
          <a:custGeom>
            <a:avLst/>
            <a:gdLst/>
            <a:ahLst/>
            <a:cxnLst/>
            <a:rect l="l" t="t" r="r" b="b"/>
            <a:pathLst>
              <a:path w="615878" h="620116">
                <a:moveTo>
                  <a:pt x="0" y="0"/>
                </a:moveTo>
                <a:lnTo>
                  <a:pt x="615878" y="0"/>
                </a:lnTo>
                <a:lnTo>
                  <a:pt x="615878" y="620116"/>
                </a:lnTo>
                <a:lnTo>
                  <a:pt x="0" y="62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4103167" y="4628644"/>
            <a:ext cx="734605" cy="665911"/>
          </a:xfrm>
          <a:custGeom>
            <a:avLst/>
            <a:gdLst/>
            <a:ahLst/>
            <a:cxnLst/>
            <a:rect l="l" t="t" r="r" b="b"/>
            <a:pathLst>
              <a:path w="734605" h="665911">
                <a:moveTo>
                  <a:pt x="0" y="0"/>
                </a:moveTo>
                <a:lnTo>
                  <a:pt x="734605" y="0"/>
                </a:lnTo>
                <a:lnTo>
                  <a:pt x="734605" y="665910"/>
                </a:lnTo>
                <a:lnTo>
                  <a:pt x="0" y="66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4622699" y="904875"/>
            <a:ext cx="9042601" cy="112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Healthcare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809544" y="1903890"/>
            <a:ext cx="8668913" cy="112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Challenges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014638" y="5877863"/>
            <a:ext cx="1608061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30"/>
              </a:lnSpc>
              <a:spcBef>
                <a:spcPct val="0"/>
              </a:spcBef>
            </a:pPr>
            <a:r>
              <a:rPr lang="en-US" sz="1950" b="1">
                <a:solidFill>
                  <a:srgbClr val="00477B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Fragmented Records</a:t>
            </a:r>
            <a:endParaRPr lang="en-US" sz="1950" b="1">
              <a:solidFill>
                <a:srgbClr val="00477B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936655" y="5877863"/>
            <a:ext cx="241469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30"/>
              </a:lnSpc>
              <a:spcBef>
                <a:spcPct val="0"/>
              </a:spcBef>
            </a:pPr>
            <a:r>
              <a:rPr lang="en-US" sz="195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Operational Inefficiency</a:t>
            </a:r>
            <a:endParaRPr lang="en-US" sz="195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166459" y="7173108"/>
            <a:ext cx="3304419" cy="1285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Patient records are fragmented across systems, and appointment bookings remain manual — leading to errors, duplication, and poor continuity of care.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491790" y="7173108"/>
            <a:ext cx="3304419" cy="1285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Long patient queues, poor bed and resource visibility, and inefficient scheduling create bottlenecks that compromise care delivery and patient satisfaction.</a:t>
            </a:r>
            <a:endParaRPr lang="en-US" sz="1500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331523" y="5877863"/>
            <a:ext cx="2275616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30"/>
              </a:lnSpc>
            </a:pPr>
            <a:r>
              <a:rPr lang="en-US" sz="195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Communication Gaps</a:t>
            </a:r>
            <a:endParaRPr lang="en-US" sz="195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814931" y="7173108"/>
            <a:ext cx="3308801" cy="1285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Weak inter-department communication, isolated data silos, and delayed access to clinical information hinder timely and informed decision-making.</a:t>
            </a:r>
            <a:endParaRPr lang="en-US" sz="1500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16263356" y="276584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3" y="0"/>
                </a:lnTo>
                <a:lnTo>
                  <a:pt x="1727053" y="1751131"/>
                </a:lnTo>
                <a:lnTo>
                  <a:pt x="0" y="1751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300" y="3467350"/>
            <a:ext cx="9588400" cy="6610282"/>
            <a:chOff x="0" y="0"/>
            <a:chExt cx="718480" cy="4953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8480" cy="495323"/>
            </a:xfrm>
            <a:custGeom>
              <a:avLst/>
              <a:gdLst/>
              <a:ahLst/>
              <a:cxnLst/>
              <a:rect l="l" t="t" r="r" b="b"/>
              <a:pathLst>
                <a:path w="718480" h="495323">
                  <a:moveTo>
                    <a:pt x="24223" y="0"/>
                  </a:moveTo>
                  <a:lnTo>
                    <a:pt x="694257" y="0"/>
                  </a:lnTo>
                  <a:cubicBezTo>
                    <a:pt x="700682" y="0"/>
                    <a:pt x="706843" y="2552"/>
                    <a:pt x="711386" y="7095"/>
                  </a:cubicBezTo>
                  <a:cubicBezTo>
                    <a:pt x="715928" y="11637"/>
                    <a:pt x="718480" y="17798"/>
                    <a:pt x="718480" y="24223"/>
                  </a:cubicBezTo>
                  <a:lnTo>
                    <a:pt x="718480" y="471100"/>
                  </a:lnTo>
                  <a:cubicBezTo>
                    <a:pt x="718480" y="477525"/>
                    <a:pt x="715928" y="483686"/>
                    <a:pt x="711386" y="488228"/>
                  </a:cubicBezTo>
                  <a:cubicBezTo>
                    <a:pt x="706843" y="492771"/>
                    <a:pt x="700682" y="495323"/>
                    <a:pt x="694257" y="495323"/>
                  </a:cubicBezTo>
                  <a:lnTo>
                    <a:pt x="24223" y="495323"/>
                  </a:lnTo>
                  <a:cubicBezTo>
                    <a:pt x="10845" y="495323"/>
                    <a:pt x="0" y="484478"/>
                    <a:pt x="0" y="471100"/>
                  </a:cubicBezTo>
                  <a:lnTo>
                    <a:pt x="0" y="24223"/>
                  </a:lnTo>
                  <a:cubicBezTo>
                    <a:pt x="0" y="10845"/>
                    <a:pt x="10845" y="0"/>
                    <a:pt x="24223" y="0"/>
                  </a:cubicBezTo>
                  <a:close/>
                </a:path>
              </a:pathLst>
            </a:custGeom>
            <a:blipFill>
              <a:blip r:embed="rId1"/>
              <a:stretch>
                <a:fillRect t="-133" b="-1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6263356" y="8197778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3" y="0"/>
                </a:lnTo>
                <a:lnTo>
                  <a:pt x="1727053" y="1751131"/>
                </a:lnTo>
                <a:lnTo>
                  <a:pt x="0" y="1751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738206" y="1743352"/>
            <a:ext cx="7549794" cy="112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5"/>
              </a:lnSpc>
              <a:spcBef>
                <a:spcPct val="0"/>
              </a:spcBef>
            </a:pPr>
            <a:r>
              <a:rPr lang="en-US" sz="6610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Proposed</a:t>
            </a:r>
            <a:endParaRPr lang="en-US" sz="6610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738206" y="2747850"/>
            <a:ext cx="7549794" cy="112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5"/>
              </a:lnSpc>
              <a:spcBef>
                <a:spcPct val="0"/>
              </a:spcBef>
            </a:pPr>
            <a:r>
              <a:rPr lang="en-US" sz="6610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Solution:</a:t>
            </a:r>
            <a:endParaRPr lang="en-US" sz="6610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738206" y="3746865"/>
            <a:ext cx="7549794" cy="112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5"/>
              </a:lnSpc>
              <a:spcBef>
                <a:spcPct val="0"/>
              </a:spcBef>
            </a:pPr>
            <a:r>
              <a:rPr lang="en-US" sz="6610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MediFlow+</a:t>
            </a:r>
            <a:endParaRPr lang="en-US" sz="6610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738206" y="5824699"/>
            <a:ext cx="5102614" cy="2442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5"/>
              </a:lnSpc>
              <a:spcBef>
                <a:spcPct val="0"/>
              </a:spcBef>
            </a:pPr>
            <a:r>
              <a:rPr lang="en-US" sz="173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MediFlow+ delivers tailored dashboards and role-based permissions for every user type. Core features include appointment booking &amp; scheduling, comprehensive medical records, bed and ward management, billing &amp; payments, and real-time notifications — all integrated into one intelligent, patient-centred platform.</a:t>
            </a:r>
            <a:endParaRPr lang="en-US" sz="173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47913" y="2084052"/>
            <a:ext cx="7738287" cy="122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5"/>
              </a:lnSpc>
              <a:spcBef>
                <a:spcPct val="0"/>
              </a:spcBef>
            </a:pPr>
            <a:r>
              <a:rPr lang="en-US" sz="173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A single, unified, role-based web platform connecting patients, doctors, staff, administrators, and family caregivers — eliminating fragmented workflows and data silos through a secure, centralized system.</a:t>
            </a:r>
            <a:endParaRPr lang="en-US" sz="173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691152"/>
            <a:ext cx="18288000" cy="6595848"/>
            <a:chOff x="0" y="0"/>
            <a:chExt cx="1241078" cy="447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1078" cy="447614"/>
            </a:xfrm>
            <a:custGeom>
              <a:avLst/>
              <a:gdLst/>
              <a:ahLst/>
              <a:cxnLst/>
              <a:rect l="l" t="t" r="r" b="b"/>
              <a:pathLst>
                <a:path w="1241078" h="447614">
                  <a:moveTo>
                    <a:pt x="0" y="0"/>
                  </a:moveTo>
                  <a:lnTo>
                    <a:pt x="1241078" y="0"/>
                  </a:lnTo>
                  <a:lnTo>
                    <a:pt x="1241078" y="447614"/>
                  </a:lnTo>
                  <a:lnTo>
                    <a:pt x="0" y="447614"/>
                  </a:ln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41078" cy="485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47913" y="4951676"/>
            <a:ext cx="4541511" cy="4033762"/>
            <a:chOff x="0" y="0"/>
            <a:chExt cx="1196118" cy="10623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6118" cy="1062390"/>
            </a:xfrm>
            <a:custGeom>
              <a:avLst/>
              <a:gdLst/>
              <a:ahLst/>
              <a:cxnLst/>
              <a:rect l="l" t="t" r="r" b="b"/>
              <a:pathLst>
                <a:path w="1196118" h="1062390">
                  <a:moveTo>
                    <a:pt x="52846" y="0"/>
                  </a:moveTo>
                  <a:lnTo>
                    <a:pt x="1143273" y="0"/>
                  </a:lnTo>
                  <a:cubicBezTo>
                    <a:pt x="1172458" y="0"/>
                    <a:pt x="1196118" y="23660"/>
                    <a:pt x="1196118" y="52846"/>
                  </a:cubicBezTo>
                  <a:lnTo>
                    <a:pt x="1196118" y="1009544"/>
                  </a:lnTo>
                  <a:cubicBezTo>
                    <a:pt x="1196118" y="1023560"/>
                    <a:pt x="1190551" y="1037001"/>
                    <a:pt x="1180640" y="1046912"/>
                  </a:cubicBezTo>
                  <a:cubicBezTo>
                    <a:pt x="1170730" y="1056822"/>
                    <a:pt x="1157288" y="1062390"/>
                    <a:pt x="1143273" y="1062390"/>
                  </a:cubicBezTo>
                  <a:lnTo>
                    <a:pt x="52846" y="1062390"/>
                  </a:lnTo>
                  <a:cubicBezTo>
                    <a:pt x="23660" y="1062390"/>
                    <a:pt x="0" y="1038730"/>
                    <a:pt x="0" y="1009544"/>
                  </a:cubicBezTo>
                  <a:lnTo>
                    <a:pt x="0" y="52846"/>
                  </a:lnTo>
                  <a:cubicBezTo>
                    <a:pt x="0" y="23660"/>
                    <a:pt x="23660" y="0"/>
                    <a:pt x="52846" y="0"/>
                  </a:cubicBezTo>
                  <a:close/>
                </a:path>
              </a:pathLst>
            </a:custGeom>
            <a:solidFill>
              <a:srgbClr val="FAFAF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6118" cy="1100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50688" y="4388602"/>
            <a:ext cx="1135962" cy="1126149"/>
            <a:chOff x="0" y="0"/>
            <a:chExt cx="299183" cy="2965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9183" cy="296599"/>
            </a:xfrm>
            <a:custGeom>
              <a:avLst/>
              <a:gdLst/>
              <a:ahLst/>
              <a:cxnLst/>
              <a:rect l="l" t="t" r="r" b="b"/>
              <a:pathLst>
                <a:path w="299183" h="296599">
                  <a:moveTo>
                    <a:pt x="136306" y="0"/>
                  </a:moveTo>
                  <a:lnTo>
                    <a:pt x="162877" y="0"/>
                  </a:lnTo>
                  <a:cubicBezTo>
                    <a:pt x="238157" y="0"/>
                    <a:pt x="299183" y="61026"/>
                    <a:pt x="299183" y="136306"/>
                  </a:cubicBezTo>
                  <a:lnTo>
                    <a:pt x="299183" y="160293"/>
                  </a:lnTo>
                  <a:cubicBezTo>
                    <a:pt x="299183" y="196444"/>
                    <a:pt x="284823" y="231113"/>
                    <a:pt x="259260" y="256676"/>
                  </a:cubicBezTo>
                  <a:cubicBezTo>
                    <a:pt x="233698" y="282238"/>
                    <a:pt x="199028" y="296599"/>
                    <a:pt x="162877" y="296599"/>
                  </a:cubicBezTo>
                  <a:lnTo>
                    <a:pt x="136306" y="296599"/>
                  </a:lnTo>
                  <a:cubicBezTo>
                    <a:pt x="100155" y="296599"/>
                    <a:pt x="65485" y="282238"/>
                    <a:pt x="39923" y="256676"/>
                  </a:cubicBezTo>
                  <a:cubicBezTo>
                    <a:pt x="14361" y="231113"/>
                    <a:pt x="0" y="196444"/>
                    <a:pt x="0" y="160293"/>
                  </a:cubicBezTo>
                  <a:lnTo>
                    <a:pt x="0" y="136306"/>
                  </a:lnTo>
                  <a:cubicBezTo>
                    <a:pt x="0" y="100155"/>
                    <a:pt x="14361" y="65485"/>
                    <a:pt x="39923" y="39923"/>
                  </a:cubicBezTo>
                  <a:cubicBezTo>
                    <a:pt x="65485" y="14361"/>
                    <a:pt x="100155" y="0"/>
                    <a:pt x="1363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99183" cy="334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73244" y="4951676"/>
            <a:ext cx="4541511" cy="4033762"/>
            <a:chOff x="0" y="0"/>
            <a:chExt cx="1196118" cy="10623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96118" cy="1062390"/>
            </a:xfrm>
            <a:custGeom>
              <a:avLst/>
              <a:gdLst/>
              <a:ahLst/>
              <a:cxnLst/>
              <a:rect l="l" t="t" r="r" b="b"/>
              <a:pathLst>
                <a:path w="1196118" h="1062390">
                  <a:moveTo>
                    <a:pt x="52846" y="0"/>
                  </a:moveTo>
                  <a:lnTo>
                    <a:pt x="1143273" y="0"/>
                  </a:lnTo>
                  <a:cubicBezTo>
                    <a:pt x="1172458" y="0"/>
                    <a:pt x="1196118" y="23660"/>
                    <a:pt x="1196118" y="52846"/>
                  </a:cubicBezTo>
                  <a:lnTo>
                    <a:pt x="1196118" y="1009544"/>
                  </a:lnTo>
                  <a:cubicBezTo>
                    <a:pt x="1196118" y="1023560"/>
                    <a:pt x="1190551" y="1037001"/>
                    <a:pt x="1180640" y="1046912"/>
                  </a:cubicBezTo>
                  <a:cubicBezTo>
                    <a:pt x="1170730" y="1056822"/>
                    <a:pt x="1157288" y="1062390"/>
                    <a:pt x="1143273" y="1062390"/>
                  </a:cubicBezTo>
                  <a:lnTo>
                    <a:pt x="52846" y="1062390"/>
                  </a:lnTo>
                  <a:cubicBezTo>
                    <a:pt x="23660" y="1062390"/>
                    <a:pt x="0" y="1038730"/>
                    <a:pt x="0" y="1009544"/>
                  </a:cubicBezTo>
                  <a:lnTo>
                    <a:pt x="0" y="52846"/>
                  </a:lnTo>
                  <a:cubicBezTo>
                    <a:pt x="0" y="23660"/>
                    <a:pt x="23660" y="0"/>
                    <a:pt x="52846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96118" cy="1100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98575" y="4951676"/>
            <a:ext cx="4541511" cy="4033762"/>
            <a:chOff x="0" y="0"/>
            <a:chExt cx="1196118" cy="10623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96118" cy="1062390"/>
            </a:xfrm>
            <a:custGeom>
              <a:avLst/>
              <a:gdLst/>
              <a:ahLst/>
              <a:cxnLst/>
              <a:rect l="l" t="t" r="r" b="b"/>
              <a:pathLst>
                <a:path w="1196118" h="1062390">
                  <a:moveTo>
                    <a:pt x="52846" y="0"/>
                  </a:moveTo>
                  <a:lnTo>
                    <a:pt x="1143273" y="0"/>
                  </a:lnTo>
                  <a:cubicBezTo>
                    <a:pt x="1172458" y="0"/>
                    <a:pt x="1196118" y="23660"/>
                    <a:pt x="1196118" y="52846"/>
                  </a:cubicBezTo>
                  <a:lnTo>
                    <a:pt x="1196118" y="1009544"/>
                  </a:lnTo>
                  <a:cubicBezTo>
                    <a:pt x="1196118" y="1023560"/>
                    <a:pt x="1190551" y="1037001"/>
                    <a:pt x="1180640" y="1046912"/>
                  </a:cubicBezTo>
                  <a:cubicBezTo>
                    <a:pt x="1170730" y="1056822"/>
                    <a:pt x="1157288" y="1062390"/>
                    <a:pt x="1143273" y="1062390"/>
                  </a:cubicBezTo>
                  <a:lnTo>
                    <a:pt x="52846" y="1062390"/>
                  </a:lnTo>
                  <a:cubicBezTo>
                    <a:pt x="23660" y="1062390"/>
                    <a:pt x="0" y="1038730"/>
                    <a:pt x="0" y="1009544"/>
                  </a:cubicBezTo>
                  <a:lnTo>
                    <a:pt x="0" y="52846"/>
                  </a:lnTo>
                  <a:cubicBezTo>
                    <a:pt x="0" y="23660"/>
                    <a:pt x="23660" y="0"/>
                    <a:pt x="52846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96118" cy="1100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576019" y="4388602"/>
            <a:ext cx="1135962" cy="1126149"/>
            <a:chOff x="0" y="0"/>
            <a:chExt cx="299183" cy="2965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9183" cy="296599"/>
            </a:xfrm>
            <a:custGeom>
              <a:avLst/>
              <a:gdLst/>
              <a:ahLst/>
              <a:cxnLst/>
              <a:rect l="l" t="t" r="r" b="b"/>
              <a:pathLst>
                <a:path w="299183" h="296599">
                  <a:moveTo>
                    <a:pt x="136306" y="0"/>
                  </a:moveTo>
                  <a:lnTo>
                    <a:pt x="162877" y="0"/>
                  </a:lnTo>
                  <a:cubicBezTo>
                    <a:pt x="238157" y="0"/>
                    <a:pt x="299183" y="61026"/>
                    <a:pt x="299183" y="136306"/>
                  </a:cubicBezTo>
                  <a:lnTo>
                    <a:pt x="299183" y="160293"/>
                  </a:lnTo>
                  <a:cubicBezTo>
                    <a:pt x="299183" y="196444"/>
                    <a:pt x="284823" y="231113"/>
                    <a:pt x="259260" y="256676"/>
                  </a:cubicBezTo>
                  <a:cubicBezTo>
                    <a:pt x="233698" y="282238"/>
                    <a:pt x="199028" y="296599"/>
                    <a:pt x="162877" y="296599"/>
                  </a:cubicBezTo>
                  <a:lnTo>
                    <a:pt x="136306" y="296599"/>
                  </a:lnTo>
                  <a:cubicBezTo>
                    <a:pt x="100155" y="296599"/>
                    <a:pt x="65485" y="282238"/>
                    <a:pt x="39923" y="256676"/>
                  </a:cubicBezTo>
                  <a:cubicBezTo>
                    <a:pt x="14361" y="231113"/>
                    <a:pt x="0" y="196444"/>
                    <a:pt x="0" y="160293"/>
                  </a:cubicBezTo>
                  <a:lnTo>
                    <a:pt x="0" y="136306"/>
                  </a:lnTo>
                  <a:cubicBezTo>
                    <a:pt x="0" y="100155"/>
                    <a:pt x="14361" y="65485"/>
                    <a:pt x="39923" y="39923"/>
                  </a:cubicBezTo>
                  <a:cubicBezTo>
                    <a:pt x="65485" y="14361"/>
                    <a:pt x="100155" y="0"/>
                    <a:pt x="1363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99183" cy="334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901350" y="4388602"/>
            <a:ext cx="1135962" cy="1126149"/>
            <a:chOff x="0" y="0"/>
            <a:chExt cx="299183" cy="29659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9183" cy="296599"/>
            </a:xfrm>
            <a:custGeom>
              <a:avLst/>
              <a:gdLst/>
              <a:ahLst/>
              <a:cxnLst/>
              <a:rect l="l" t="t" r="r" b="b"/>
              <a:pathLst>
                <a:path w="299183" h="296599">
                  <a:moveTo>
                    <a:pt x="136306" y="0"/>
                  </a:moveTo>
                  <a:lnTo>
                    <a:pt x="162877" y="0"/>
                  </a:lnTo>
                  <a:cubicBezTo>
                    <a:pt x="238157" y="0"/>
                    <a:pt x="299183" y="61026"/>
                    <a:pt x="299183" y="136306"/>
                  </a:cubicBezTo>
                  <a:lnTo>
                    <a:pt x="299183" y="160293"/>
                  </a:lnTo>
                  <a:cubicBezTo>
                    <a:pt x="299183" y="196444"/>
                    <a:pt x="284823" y="231113"/>
                    <a:pt x="259260" y="256676"/>
                  </a:cubicBezTo>
                  <a:cubicBezTo>
                    <a:pt x="233698" y="282238"/>
                    <a:pt x="199028" y="296599"/>
                    <a:pt x="162877" y="296599"/>
                  </a:cubicBezTo>
                  <a:lnTo>
                    <a:pt x="136306" y="296599"/>
                  </a:lnTo>
                  <a:cubicBezTo>
                    <a:pt x="100155" y="296599"/>
                    <a:pt x="65485" y="282238"/>
                    <a:pt x="39923" y="256676"/>
                  </a:cubicBezTo>
                  <a:cubicBezTo>
                    <a:pt x="14361" y="231113"/>
                    <a:pt x="0" y="196444"/>
                    <a:pt x="0" y="160293"/>
                  </a:cubicBezTo>
                  <a:lnTo>
                    <a:pt x="0" y="136306"/>
                  </a:lnTo>
                  <a:cubicBezTo>
                    <a:pt x="0" y="100155"/>
                    <a:pt x="14361" y="65485"/>
                    <a:pt x="39923" y="39923"/>
                  </a:cubicBezTo>
                  <a:cubicBezTo>
                    <a:pt x="65485" y="14361"/>
                    <a:pt x="100155" y="0"/>
                    <a:pt x="1363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99183" cy="334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23" name="Freeform 23"/>
          <p:cNvSpPr/>
          <p:nvPr/>
        </p:nvSpPr>
        <p:spPr>
          <a:xfrm>
            <a:off x="3501001" y="4600875"/>
            <a:ext cx="628805" cy="672083"/>
          </a:xfrm>
          <a:custGeom>
            <a:avLst/>
            <a:gdLst/>
            <a:ahLst/>
            <a:cxnLst/>
            <a:rect l="l" t="t" r="r" b="b"/>
            <a:pathLst>
              <a:path w="628805" h="672083">
                <a:moveTo>
                  <a:pt x="0" y="0"/>
                </a:moveTo>
                <a:lnTo>
                  <a:pt x="628805" y="0"/>
                </a:lnTo>
                <a:lnTo>
                  <a:pt x="628805" y="672083"/>
                </a:lnTo>
                <a:lnTo>
                  <a:pt x="0" y="67208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8809211" y="4653513"/>
            <a:ext cx="637337" cy="576012"/>
          </a:xfrm>
          <a:custGeom>
            <a:avLst/>
            <a:gdLst/>
            <a:ahLst/>
            <a:cxnLst/>
            <a:rect l="l" t="t" r="r" b="b"/>
            <a:pathLst>
              <a:path w="637337" h="576012">
                <a:moveTo>
                  <a:pt x="0" y="0"/>
                </a:moveTo>
                <a:lnTo>
                  <a:pt x="637336" y="0"/>
                </a:lnTo>
                <a:lnTo>
                  <a:pt x="637336" y="576012"/>
                </a:lnTo>
                <a:lnTo>
                  <a:pt x="0" y="576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4080245" y="4661781"/>
            <a:ext cx="779232" cy="598973"/>
          </a:xfrm>
          <a:custGeom>
            <a:avLst/>
            <a:gdLst/>
            <a:ahLst/>
            <a:cxnLst/>
            <a:rect l="l" t="t" r="r" b="b"/>
            <a:pathLst>
              <a:path w="779232" h="598973">
                <a:moveTo>
                  <a:pt x="0" y="0"/>
                </a:moveTo>
                <a:lnTo>
                  <a:pt x="779232" y="0"/>
                </a:lnTo>
                <a:lnTo>
                  <a:pt x="779232" y="598973"/>
                </a:lnTo>
                <a:lnTo>
                  <a:pt x="0" y="598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4622699" y="923925"/>
            <a:ext cx="9042601" cy="904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60"/>
              </a:lnSpc>
              <a:spcBef>
                <a:spcPct val="0"/>
              </a:spcBef>
            </a:pPr>
            <a:r>
              <a:rPr lang="en-US" sz="525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Project Objectives</a:t>
            </a:r>
            <a:endParaRPr lang="en-US" sz="525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809544" y="1922940"/>
            <a:ext cx="8668913" cy="904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60"/>
              </a:lnSpc>
              <a:spcBef>
                <a:spcPct val="0"/>
              </a:spcBef>
            </a:pPr>
            <a:r>
              <a:rPr lang="en-US" sz="525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MediFlow+ System Goals</a:t>
            </a:r>
            <a:endParaRPr lang="en-US" sz="525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014638" y="5868338"/>
            <a:ext cx="1608061" cy="73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0"/>
              </a:lnSpc>
              <a:spcBef>
                <a:spcPct val="0"/>
              </a:spcBef>
            </a:pPr>
            <a:r>
              <a:rPr lang="en-US" sz="2085" b="1">
                <a:solidFill>
                  <a:srgbClr val="00477B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Patient Experience</a:t>
            </a:r>
            <a:endParaRPr lang="en-US" sz="2085" b="1">
              <a:solidFill>
                <a:srgbClr val="00477B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936655" y="5868338"/>
            <a:ext cx="2414690" cy="73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0"/>
              </a:lnSpc>
              <a:spcBef>
                <a:spcPct val="0"/>
              </a:spcBef>
            </a:pPr>
            <a:r>
              <a:rPr lang="en-US" sz="208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Clinical Workflow Efficiency</a:t>
            </a:r>
            <a:endParaRPr lang="en-US" sz="208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166459" y="7196122"/>
            <a:ext cx="3304419" cy="123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10"/>
              </a:lnSpc>
              <a:spcBef>
                <a:spcPct val="0"/>
              </a:spcBef>
            </a:pPr>
            <a:r>
              <a:rPr lang="en-US" sz="1435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Improve patient experience and satisfaction through intuitive self-service tools, seamless appointment booking, and transparent queue and care updates.</a:t>
            </a:r>
            <a:endParaRPr lang="en-US" sz="1435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491790" y="7196122"/>
            <a:ext cx="3304419" cy="123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10"/>
              </a:lnSpc>
              <a:spcBef>
                <a:spcPct val="0"/>
              </a:spcBef>
            </a:pPr>
            <a:r>
              <a:rPr lang="en-US" sz="1435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Digitize and streamline clinical workflows by eliminating paper-based processes, reducing manual errors, and enabling faster, role-based task management.</a:t>
            </a:r>
            <a:endParaRPr lang="en-US" sz="1435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331523" y="5868338"/>
            <a:ext cx="2275616" cy="73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0"/>
              </a:lnSpc>
            </a:pPr>
            <a:r>
              <a:rPr lang="en-US" sz="208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Operational Visibility</a:t>
            </a:r>
            <a:endParaRPr lang="en-US" sz="208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814931" y="7196122"/>
            <a:ext cx="3308801" cy="123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10"/>
              </a:lnSpc>
              <a:spcBef>
                <a:spcPct val="0"/>
              </a:spcBef>
            </a:pPr>
            <a:r>
              <a:rPr lang="en-US" sz="1435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Provide real-time operational visibility and enhance data integrity to support informed clinical decisions and efficient hospital resource management.</a:t>
            </a:r>
            <a:endParaRPr lang="en-US" sz="1435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16263356" y="276584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3" y="0"/>
                </a:lnTo>
                <a:lnTo>
                  <a:pt x="1727053" y="1751131"/>
                </a:lnTo>
                <a:lnTo>
                  <a:pt x="0" y="1751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700" y="6390539"/>
            <a:ext cx="9588400" cy="3896044"/>
            <a:chOff x="0" y="0"/>
            <a:chExt cx="718480" cy="2919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8480" cy="291939"/>
            </a:xfrm>
            <a:custGeom>
              <a:avLst/>
              <a:gdLst/>
              <a:ahLst/>
              <a:cxnLst/>
              <a:rect l="l" t="t" r="r" b="b"/>
              <a:pathLst>
                <a:path w="718480" h="291939">
                  <a:moveTo>
                    <a:pt x="24223" y="0"/>
                  </a:moveTo>
                  <a:lnTo>
                    <a:pt x="694257" y="0"/>
                  </a:lnTo>
                  <a:cubicBezTo>
                    <a:pt x="700682" y="0"/>
                    <a:pt x="706843" y="2552"/>
                    <a:pt x="711386" y="7095"/>
                  </a:cubicBezTo>
                  <a:cubicBezTo>
                    <a:pt x="715928" y="11637"/>
                    <a:pt x="718480" y="17798"/>
                    <a:pt x="718480" y="24223"/>
                  </a:cubicBezTo>
                  <a:lnTo>
                    <a:pt x="718480" y="267716"/>
                  </a:lnTo>
                  <a:cubicBezTo>
                    <a:pt x="718480" y="281094"/>
                    <a:pt x="707635" y="291939"/>
                    <a:pt x="694257" y="291939"/>
                  </a:cubicBezTo>
                  <a:lnTo>
                    <a:pt x="24223" y="291939"/>
                  </a:lnTo>
                  <a:cubicBezTo>
                    <a:pt x="10845" y="291939"/>
                    <a:pt x="0" y="281094"/>
                    <a:pt x="0" y="267716"/>
                  </a:cubicBezTo>
                  <a:lnTo>
                    <a:pt x="0" y="24223"/>
                  </a:lnTo>
                  <a:cubicBezTo>
                    <a:pt x="0" y="10845"/>
                    <a:pt x="10845" y="0"/>
                    <a:pt x="24223" y="0"/>
                  </a:cubicBezTo>
                  <a:close/>
                </a:path>
              </a:pathLst>
            </a:custGeom>
            <a:blipFill>
              <a:blip r:embed="rId1"/>
              <a:stretch>
                <a:fillRect l="-9" r="-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671331" y="1039619"/>
            <a:ext cx="792649" cy="785802"/>
            <a:chOff x="0" y="0"/>
            <a:chExt cx="208764" cy="206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764" cy="206960"/>
            </a:xfrm>
            <a:custGeom>
              <a:avLst/>
              <a:gdLst/>
              <a:ahLst/>
              <a:cxnLst/>
              <a:rect l="l" t="t" r="r" b="b"/>
              <a:pathLst>
                <a:path w="208764" h="206960">
                  <a:moveTo>
                    <a:pt x="103480" y="0"/>
                  </a:moveTo>
                  <a:lnTo>
                    <a:pt x="105283" y="0"/>
                  </a:lnTo>
                  <a:cubicBezTo>
                    <a:pt x="162434" y="0"/>
                    <a:pt x="208764" y="46330"/>
                    <a:pt x="208764" y="103480"/>
                  </a:cubicBezTo>
                  <a:lnTo>
                    <a:pt x="208764" y="103480"/>
                  </a:lnTo>
                  <a:cubicBezTo>
                    <a:pt x="208764" y="160630"/>
                    <a:pt x="162434" y="206960"/>
                    <a:pt x="105283" y="206960"/>
                  </a:cubicBezTo>
                  <a:lnTo>
                    <a:pt x="103480" y="206960"/>
                  </a:lnTo>
                  <a:cubicBezTo>
                    <a:pt x="46330" y="206960"/>
                    <a:pt x="0" y="160630"/>
                    <a:pt x="0" y="103480"/>
                  </a:cubicBezTo>
                  <a:lnTo>
                    <a:pt x="0" y="103480"/>
                  </a:lnTo>
                  <a:cubicBezTo>
                    <a:pt x="0" y="46330"/>
                    <a:pt x="46330" y="0"/>
                    <a:pt x="1034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8764" cy="245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671331" y="4072163"/>
            <a:ext cx="792649" cy="785802"/>
            <a:chOff x="0" y="0"/>
            <a:chExt cx="208764" cy="2069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8764" cy="206960"/>
            </a:xfrm>
            <a:custGeom>
              <a:avLst/>
              <a:gdLst/>
              <a:ahLst/>
              <a:cxnLst/>
              <a:rect l="l" t="t" r="r" b="b"/>
              <a:pathLst>
                <a:path w="208764" h="206960">
                  <a:moveTo>
                    <a:pt x="103480" y="0"/>
                  </a:moveTo>
                  <a:lnTo>
                    <a:pt x="105283" y="0"/>
                  </a:lnTo>
                  <a:cubicBezTo>
                    <a:pt x="162434" y="0"/>
                    <a:pt x="208764" y="46330"/>
                    <a:pt x="208764" y="103480"/>
                  </a:cubicBezTo>
                  <a:lnTo>
                    <a:pt x="208764" y="103480"/>
                  </a:lnTo>
                  <a:cubicBezTo>
                    <a:pt x="208764" y="160630"/>
                    <a:pt x="162434" y="206960"/>
                    <a:pt x="105283" y="206960"/>
                  </a:cubicBezTo>
                  <a:lnTo>
                    <a:pt x="103480" y="206960"/>
                  </a:lnTo>
                  <a:cubicBezTo>
                    <a:pt x="46330" y="206960"/>
                    <a:pt x="0" y="160630"/>
                    <a:pt x="0" y="103480"/>
                  </a:cubicBezTo>
                  <a:lnTo>
                    <a:pt x="0" y="103480"/>
                  </a:lnTo>
                  <a:cubicBezTo>
                    <a:pt x="0" y="46330"/>
                    <a:pt x="46330" y="0"/>
                    <a:pt x="1034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08764" cy="245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671331" y="7104706"/>
            <a:ext cx="792649" cy="785802"/>
            <a:chOff x="0" y="0"/>
            <a:chExt cx="208764" cy="2069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8764" cy="206960"/>
            </a:xfrm>
            <a:custGeom>
              <a:avLst/>
              <a:gdLst/>
              <a:ahLst/>
              <a:cxnLst/>
              <a:rect l="l" t="t" r="r" b="b"/>
              <a:pathLst>
                <a:path w="208764" h="206960">
                  <a:moveTo>
                    <a:pt x="103480" y="0"/>
                  </a:moveTo>
                  <a:lnTo>
                    <a:pt x="105283" y="0"/>
                  </a:lnTo>
                  <a:cubicBezTo>
                    <a:pt x="162434" y="0"/>
                    <a:pt x="208764" y="46330"/>
                    <a:pt x="208764" y="103480"/>
                  </a:cubicBezTo>
                  <a:lnTo>
                    <a:pt x="208764" y="103480"/>
                  </a:lnTo>
                  <a:cubicBezTo>
                    <a:pt x="208764" y="160630"/>
                    <a:pt x="162434" y="206960"/>
                    <a:pt x="105283" y="206960"/>
                  </a:cubicBezTo>
                  <a:lnTo>
                    <a:pt x="103480" y="206960"/>
                  </a:lnTo>
                  <a:cubicBezTo>
                    <a:pt x="46330" y="206960"/>
                    <a:pt x="0" y="160630"/>
                    <a:pt x="0" y="103480"/>
                  </a:cubicBezTo>
                  <a:lnTo>
                    <a:pt x="0" y="103480"/>
                  </a:lnTo>
                  <a:cubicBezTo>
                    <a:pt x="0" y="46330"/>
                    <a:pt x="46330" y="0"/>
                    <a:pt x="1034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08764" cy="245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917474" y="1272662"/>
            <a:ext cx="300363" cy="310052"/>
          </a:xfrm>
          <a:custGeom>
            <a:avLst/>
            <a:gdLst/>
            <a:ahLst/>
            <a:cxnLst/>
            <a:rect l="l" t="t" r="r" b="b"/>
            <a:pathLst>
              <a:path w="300363" h="310052">
                <a:moveTo>
                  <a:pt x="0" y="0"/>
                </a:moveTo>
                <a:lnTo>
                  <a:pt x="300363" y="0"/>
                </a:lnTo>
                <a:lnTo>
                  <a:pt x="300363" y="310052"/>
                </a:lnTo>
                <a:lnTo>
                  <a:pt x="0" y="310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917474" y="4305205"/>
            <a:ext cx="300363" cy="310052"/>
          </a:xfrm>
          <a:custGeom>
            <a:avLst/>
            <a:gdLst/>
            <a:ahLst/>
            <a:cxnLst/>
            <a:rect l="l" t="t" r="r" b="b"/>
            <a:pathLst>
              <a:path w="300363" h="310052">
                <a:moveTo>
                  <a:pt x="0" y="0"/>
                </a:moveTo>
                <a:lnTo>
                  <a:pt x="300363" y="0"/>
                </a:lnTo>
                <a:lnTo>
                  <a:pt x="300363" y="310053"/>
                </a:lnTo>
                <a:lnTo>
                  <a:pt x="0" y="310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0917474" y="7337749"/>
            <a:ext cx="300363" cy="310052"/>
          </a:xfrm>
          <a:custGeom>
            <a:avLst/>
            <a:gdLst/>
            <a:ahLst/>
            <a:cxnLst/>
            <a:rect l="l" t="t" r="r" b="b"/>
            <a:pathLst>
              <a:path w="300363" h="310052">
                <a:moveTo>
                  <a:pt x="0" y="0"/>
                </a:moveTo>
                <a:lnTo>
                  <a:pt x="300363" y="0"/>
                </a:lnTo>
                <a:lnTo>
                  <a:pt x="300363" y="310052"/>
                </a:lnTo>
                <a:lnTo>
                  <a:pt x="0" y="310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9190428" y="8343999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4" y="0"/>
                </a:lnTo>
                <a:lnTo>
                  <a:pt x="1727054" y="1751132"/>
                </a:lnTo>
                <a:lnTo>
                  <a:pt x="0" y="1751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547913" y="904875"/>
            <a:ext cx="7232671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Stakeholders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47913" y="1909373"/>
            <a:ext cx="7232671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&amp; User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47913" y="2908388"/>
            <a:ext cx="7232671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Roles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547913" y="4976697"/>
            <a:ext cx="7596087" cy="119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5"/>
              </a:lnSpc>
              <a:spcBef>
                <a:spcPct val="0"/>
              </a:spcBef>
            </a:pPr>
            <a:r>
              <a:rPr lang="en-US" sz="1705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MediFlow+ serves five distinct user groups, each with tailored dashboards, permissions, and workflows designed to meet their specific clinical and operational responsibilities within the hospital ecosystem.</a:t>
            </a:r>
            <a:endParaRPr lang="en-US" sz="1705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995444" y="953755"/>
            <a:ext cx="4745158" cy="443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Patient &amp; Family</a:t>
            </a:r>
            <a:endParaRPr lang="en-US" sz="24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995444" y="3986299"/>
            <a:ext cx="4745158" cy="443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Doctor &amp; Clinical Staff</a:t>
            </a:r>
            <a:endParaRPr lang="en-US" sz="24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995444" y="2127668"/>
            <a:ext cx="4745158" cy="128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5"/>
              </a:lnSpc>
              <a:spcBef>
                <a:spcPct val="0"/>
              </a:spcBef>
            </a:pPr>
            <a:r>
              <a:rPr lang="en-US" sz="1475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Patients manage registration, appointment booking, queue tracking, and access to personal medical records. Family caregivers monitor patient status, request visitor passes, and receive care updates.</a:t>
            </a:r>
            <a:endParaRPr lang="en-US" sz="1475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995444" y="5160212"/>
            <a:ext cx="4745158" cy="102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5"/>
              </a:lnSpc>
              <a:spcBef>
                <a:spcPct val="0"/>
              </a:spcBef>
            </a:pPr>
            <a:r>
              <a:rPr lang="en-US" sz="1475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Doctors conduct consultations, record diagnoses, and manage prescriptions and lab orders. Clinical staff oversee ward and laboratory operations, ensuring smooth patient care delivery.</a:t>
            </a:r>
            <a:endParaRPr lang="en-US" sz="1475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995444" y="7017587"/>
            <a:ext cx="4745158" cy="443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Administrator</a:t>
            </a:r>
            <a:endParaRPr lang="en-US" sz="24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995444" y="8191500"/>
            <a:ext cx="4745158" cy="102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5"/>
              </a:lnSpc>
              <a:spcBef>
                <a:spcPct val="0"/>
              </a:spcBef>
            </a:pPr>
            <a:r>
              <a:rPr lang="en-US" sz="1475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Administrators handle system oversight, user account management, billing supervision, bed and resource allocation, and access to the analytics dashboard for operational decision-making.</a:t>
            </a:r>
            <a:endParaRPr lang="en-US" sz="1475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7913" y="4474721"/>
            <a:ext cx="3633266" cy="4189375"/>
            <a:chOff x="0" y="0"/>
            <a:chExt cx="652781" cy="7526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2781" cy="752696"/>
            </a:xfrm>
            <a:custGeom>
              <a:avLst/>
              <a:gdLst/>
              <a:ahLst/>
              <a:cxnLst/>
              <a:rect l="l" t="t" r="r" b="b"/>
              <a:pathLst>
                <a:path w="652781" h="752696">
                  <a:moveTo>
                    <a:pt x="68187" y="0"/>
                  </a:moveTo>
                  <a:lnTo>
                    <a:pt x="584594" y="0"/>
                  </a:lnTo>
                  <a:cubicBezTo>
                    <a:pt x="602678" y="0"/>
                    <a:pt x="620022" y="7184"/>
                    <a:pt x="632809" y="19972"/>
                  </a:cubicBezTo>
                  <a:cubicBezTo>
                    <a:pt x="645597" y="32759"/>
                    <a:pt x="652781" y="50103"/>
                    <a:pt x="652781" y="68187"/>
                  </a:cubicBezTo>
                  <a:lnTo>
                    <a:pt x="652781" y="684509"/>
                  </a:lnTo>
                  <a:cubicBezTo>
                    <a:pt x="652781" y="702593"/>
                    <a:pt x="645597" y="719937"/>
                    <a:pt x="632809" y="732724"/>
                  </a:cubicBezTo>
                  <a:cubicBezTo>
                    <a:pt x="620022" y="745512"/>
                    <a:pt x="602678" y="752696"/>
                    <a:pt x="584594" y="752696"/>
                  </a:cubicBezTo>
                  <a:lnTo>
                    <a:pt x="68187" y="752696"/>
                  </a:lnTo>
                  <a:cubicBezTo>
                    <a:pt x="50103" y="752696"/>
                    <a:pt x="32759" y="745512"/>
                    <a:pt x="19972" y="732724"/>
                  </a:cubicBezTo>
                  <a:cubicBezTo>
                    <a:pt x="7184" y="719937"/>
                    <a:pt x="0" y="702593"/>
                    <a:pt x="0" y="684509"/>
                  </a:cubicBezTo>
                  <a:lnTo>
                    <a:pt x="0" y="68187"/>
                  </a:lnTo>
                  <a:cubicBezTo>
                    <a:pt x="0" y="50103"/>
                    <a:pt x="7184" y="32759"/>
                    <a:pt x="19972" y="19972"/>
                  </a:cubicBezTo>
                  <a:cubicBezTo>
                    <a:pt x="32759" y="7184"/>
                    <a:pt x="50103" y="0"/>
                    <a:pt x="68187" y="0"/>
                  </a:cubicBezTo>
                  <a:close/>
                </a:path>
              </a:pathLst>
            </a:custGeom>
            <a:blipFill>
              <a:blip r:embed="rId1"/>
              <a:stretch>
                <a:fillRect t="-58" b="-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7424473" y="6912965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4" y="0"/>
                </a:lnTo>
                <a:lnTo>
                  <a:pt x="1727054" y="1751131"/>
                </a:lnTo>
                <a:lnTo>
                  <a:pt x="0" y="1751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547913" y="1499079"/>
            <a:ext cx="7842864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System Scope &amp;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47913" y="2498094"/>
            <a:ext cx="7842864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Core Modules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312997" y="1836790"/>
            <a:ext cx="5427606" cy="152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5"/>
              </a:lnSpc>
              <a:spcBef>
                <a:spcPct val="0"/>
              </a:spcBef>
            </a:pPr>
            <a:r>
              <a:rPr lang="en-US" sz="173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MediFlow+ encompasses a comprehensive suite of integrated modules spanning clinical, operational, and administrative functions — designed to unify every aspect of hospital management into a single, connected platform.</a:t>
            </a:r>
            <a:endParaRPr lang="en-US" sz="173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312997" y="4427096"/>
            <a:ext cx="3195783" cy="30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0"/>
              </a:lnSpc>
              <a:spcBef>
                <a:spcPct val="0"/>
              </a:spcBef>
            </a:pPr>
            <a:r>
              <a:rPr lang="en-US" sz="17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Patient Profiles &amp; Records</a:t>
            </a:r>
            <a:endParaRPr lang="en-US" sz="17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131793" y="4427096"/>
            <a:ext cx="3195783" cy="30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0"/>
              </a:lnSpc>
              <a:spcBef>
                <a:spcPct val="0"/>
              </a:spcBef>
            </a:pPr>
            <a:r>
              <a:rPr lang="en-US" sz="17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Appointments &amp; Scheduling</a:t>
            </a:r>
            <a:endParaRPr lang="en-US" sz="17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312997" y="6983919"/>
            <a:ext cx="3195783" cy="30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0"/>
              </a:lnSpc>
              <a:spcBef>
                <a:spcPct val="0"/>
              </a:spcBef>
            </a:pPr>
            <a:r>
              <a:rPr lang="en-US" sz="17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Lab, Pharmacy &amp; Billing</a:t>
            </a:r>
            <a:endParaRPr lang="en-US" sz="17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131793" y="6983919"/>
            <a:ext cx="3195783" cy="30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0"/>
              </a:lnSpc>
              <a:spcBef>
                <a:spcPct val="0"/>
              </a:spcBef>
            </a:pPr>
            <a:r>
              <a:rPr lang="en-US" sz="17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Queue &amp; Bed Management</a:t>
            </a:r>
            <a:endParaRPr lang="en-US" sz="17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312997" y="5040473"/>
            <a:ext cx="4230590" cy="10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Centralised, unified medical histories including diagnoses, prescriptions, lab results, and visit summaries — securely accessible by authorised roles.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131793" y="5040473"/>
            <a:ext cx="4230590" cy="10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Online appointment booking with automated scheduling, slot management, conflict detection, and real-time calendar updates for patients and doctors.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312997" y="7597296"/>
            <a:ext cx="4230590" cy="10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End-to-end laboratory order management, pharmacy dispensing workflows, and integrated billing and payment processing with full audit trails.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131793" y="7597296"/>
            <a:ext cx="4230590" cy="10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Real-time queue tracking for outpatient flow alongside bed, ward, and ICU availability monitoring to optimise resource allocation and reduce wait times.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930587"/>
            <a:chOff x="0" y="0"/>
            <a:chExt cx="1241078" cy="2667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1078" cy="266741"/>
            </a:xfrm>
            <a:custGeom>
              <a:avLst/>
              <a:gdLst/>
              <a:ahLst/>
              <a:cxnLst/>
              <a:rect l="l" t="t" r="r" b="b"/>
              <a:pathLst>
                <a:path w="1241078" h="266741">
                  <a:moveTo>
                    <a:pt x="0" y="0"/>
                  </a:moveTo>
                  <a:lnTo>
                    <a:pt x="1241078" y="0"/>
                  </a:lnTo>
                  <a:lnTo>
                    <a:pt x="1241078" y="266741"/>
                  </a:lnTo>
                  <a:lnTo>
                    <a:pt x="0" y="266741"/>
                  </a:ln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41078" cy="304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06616" y="1159321"/>
            <a:ext cx="11874767" cy="779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90"/>
              </a:lnSpc>
              <a:spcBef>
                <a:spcPct val="0"/>
              </a:spcBef>
            </a:pPr>
            <a:r>
              <a:rPr lang="en-US" sz="4565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Smart &amp; AI Features</a:t>
            </a:r>
            <a:endParaRPr lang="en-US" sz="4565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09544" y="2158336"/>
            <a:ext cx="8668913" cy="779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90"/>
              </a:lnSpc>
              <a:spcBef>
                <a:spcPct val="0"/>
              </a:spcBef>
            </a:pPr>
            <a:r>
              <a:rPr lang="en-US" sz="4565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Intelligent Decision Support</a:t>
            </a:r>
            <a:endParaRPr lang="en-US" sz="4565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547913" y="6678650"/>
            <a:ext cx="7425110" cy="2363304"/>
            <a:chOff x="0" y="0"/>
            <a:chExt cx="1955585" cy="6224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5585" cy="622434"/>
            </a:xfrm>
            <a:custGeom>
              <a:avLst/>
              <a:gdLst/>
              <a:ahLst/>
              <a:cxnLst/>
              <a:rect l="l" t="t" r="r" b="b"/>
              <a:pathLst>
                <a:path w="1955585" h="622434">
                  <a:moveTo>
                    <a:pt x="23981" y="0"/>
                  </a:moveTo>
                  <a:lnTo>
                    <a:pt x="1931603" y="0"/>
                  </a:lnTo>
                  <a:cubicBezTo>
                    <a:pt x="1937964" y="0"/>
                    <a:pt x="1944063" y="2527"/>
                    <a:pt x="1948561" y="7024"/>
                  </a:cubicBezTo>
                  <a:cubicBezTo>
                    <a:pt x="1953058" y="11521"/>
                    <a:pt x="1955585" y="17621"/>
                    <a:pt x="1955585" y="23981"/>
                  </a:cubicBezTo>
                  <a:lnTo>
                    <a:pt x="1955585" y="598453"/>
                  </a:lnTo>
                  <a:cubicBezTo>
                    <a:pt x="1955585" y="611697"/>
                    <a:pt x="1944848" y="622434"/>
                    <a:pt x="1931603" y="622434"/>
                  </a:cubicBezTo>
                  <a:lnTo>
                    <a:pt x="23981" y="622434"/>
                  </a:lnTo>
                  <a:cubicBezTo>
                    <a:pt x="10737" y="622434"/>
                    <a:pt x="0" y="611697"/>
                    <a:pt x="0" y="598453"/>
                  </a:cubicBezTo>
                  <a:lnTo>
                    <a:pt x="0" y="23981"/>
                  </a:lnTo>
                  <a:cubicBezTo>
                    <a:pt x="0" y="10737"/>
                    <a:pt x="10737" y="0"/>
                    <a:pt x="239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955585" cy="66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15492" y="6678650"/>
            <a:ext cx="7425110" cy="2363304"/>
            <a:chOff x="0" y="0"/>
            <a:chExt cx="1955585" cy="6224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55585" cy="622434"/>
            </a:xfrm>
            <a:custGeom>
              <a:avLst/>
              <a:gdLst/>
              <a:ahLst/>
              <a:cxnLst/>
              <a:rect l="l" t="t" r="r" b="b"/>
              <a:pathLst>
                <a:path w="1955585" h="622434">
                  <a:moveTo>
                    <a:pt x="23981" y="0"/>
                  </a:moveTo>
                  <a:lnTo>
                    <a:pt x="1931603" y="0"/>
                  </a:lnTo>
                  <a:cubicBezTo>
                    <a:pt x="1937964" y="0"/>
                    <a:pt x="1944063" y="2527"/>
                    <a:pt x="1948561" y="7024"/>
                  </a:cubicBezTo>
                  <a:cubicBezTo>
                    <a:pt x="1953058" y="11521"/>
                    <a:pt x="1955585" y="17621"/>
                    <a:pt x="1955585" y="23981"/>
                  </a:cubicBezTo>
                  <a:lnTo>
                    <a:pt x="1955585" y="598453"/>
                  </a:lnTo>
                  <a:cubicBezTo>
                    <a:pt x="1955585" y="611697"/>
                    <a:pt x="1944848" y="622434"/>
                    <a:pt x="1931603" y="622434"/>
                  </a:cubicBezTo>
                  <a:lnTo>
                    <a:pt x="23981" y="622434"/>
                  </a:lnTo>
                  <a:cubicBezTo>
                    <a:pt x="10737" y="622434"/>
                    <a:pt x="0" y="611697"/>
                    <a:pt x="0" y="598453"/>
                  </a:cubicBezTo>
                  <a:lnTo>
                    <a:pt x="0" y="23981"/>
                  </a:lnTo>
                  <a:cubicBezTo>
                    <a:pt x="0" y="10737"/>
                    <a:pt x="10737" y="0"/>
                    <a:pt x="239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55585" cy="66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028157" y="7664911"/>
            <a:ext cx="2628147" cy="631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5"/>
              </a:lnSpc>
              <a:spcBef>
                <a:spcPct val="0"/>
              </a:spcBef>
            </a:pPr>
            <a:r>
              <a:rPr lang="en-US" sz="177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Symptom Checker &amp; Emergency Assistant</a:t>
            </a:r>
            <a:endParaRPr lang="en-US" sz="177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795736" y="7664911"/>
            <a:ext cx="2743774" cy="631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75"/>
              </a:lnSpc>
              <a:spcBef>
                <a:spcPct val="0"/>
              </a:spcBef>
            </a:pPr>
            <a:r>
              <a:rPr lang="en-US" sz="177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Operational Predictions &amp; Forecasting</a:t>
            </a:r>
            <a:endParaRPr lang="en-US" sz="177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241204" y="7299786"/>
            <a:ext cx="3251060" cy="1092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5"/>
              </a:lnSpc>
              <a:spcBef>
                <a:spcPct val="0"/>
              </a:spcBef>
            </a:pPr>
            <a:r>
              <a:rPr lang="en-US" sz="1240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AI-guided patient triage assists clinical staff in prioritising cases. The Emergency Assistant delivers rapid alerts and activates protocols to ensure swift response in critical situations.</a:t>
            </a:r>
            <a:endParaRPr lang="en-US" sz="1240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008783" y="7299786"/>
            <a:ext cx="3251060" cy="1092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5"/>
              </a:lnSpc>
              <a:spcBef>
                <a:spcPct val="0"/>
              </a:spcBef>
            </a:pPr>
            <a:r>
              <a:rPr lang="en-US" sz="1240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Predictive analytics forecast resource needs, manage queue flow, and optimise bed and staff allocation. Reduces bottlenecks and improves real-time operational visibility across departments.</a:t>
            </a:r>
            <a:endParaRPr lang="en-US" sz="1240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2028157" y="6112099"/>
            <a:ext cx="1142976" cy="1133102"/>
            <a:chOff x="0" y="0"/>
            <a:chExt cx="301031" cy="29843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1031" cy="298430"/>
            </a:xfrm>
            <a:custGeom>
              <a:avLst/>
              <a:gdLst/>
              <a:ahLst/>
              <a:cxnLst/>
              <a:rect l="l" t="t" r="r" b="b"/>
              <a:pathLst>
                <a:path w="301031" h="298430">
                  <a:moveTo>
                    <a:pt x="108376" y="0"/>
                  </a:moveTo>
                  <a:lnTo>
                    <a:pt x="192655" y="0"/>
                  </a:lnTo>
                  <a:cubicBezTo>
                    <a:pt x="252509" y="0"/>
                    <a:pt x="301031" y="48521"/>
                    <a:pt x="301031" y="108376"/>
                  </a:cubicBezTo>
                  <a:lnTo>
                    <a:pt x="301031" y="190055"/>
                  </a:lnTo>
                  <a:cubicBezTo>
                    <a:pt x="301031" y="249909"/>
                    <a:pt x="252509" y="298430"/>
                    <a:pt x="192655" y="298430"/>
                  </a:cubicBezTo>
                  <a:lnTo>
                    <a:pt x="108376" y="298430"/>
                  </a:lnTo>
                  <a:cubicBezTo>
                    <a:pt x="48521" y="298430"/>
                    <a:pt x="0" y="249909"/>
                    <a:pt x="0" y="190055"/>
                  </a:cubicBezTo>
                  <a:lnTo>
                    <a:pt x="0" y="108376"/>
                  </a:lnTo>
                  <a:cubicBezTo>
                    <a:pt x="0" y="48521"/>
                    <a:pt x="48521" y="0"/>
                    <a:pt x="10837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01031" cy="336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081077" y="6297187"/>
            <a:ext cx="1037136" cy="518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90"/>
              </a:lnSpc>
              <a:spcBef>
                <a:spcPct val="0"/>
              </a:spcBef>
            </a:pPr>
            <a:r>
              <a:rPr lang="en-US" sz="2850">
                <a:solidFill>
                  <a:srgbClr val="00477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01</a:t>
            </a:r>
            <a:endParaRPr lang="en-US" sz="2850">
              <a:solidFill>
                <a:srgbClr val="00477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9795736" y="6112099"/>
            <a:ext cx="1142976" cy="1133102"/>
            <a:chOff x="0" y="0"/>
            <a:chExt cx="301031" cy="29843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1031" cy="298430"/>
            </a:xfrm>
            <a:custGeom>
              <a:avLst/>
              <a:gdLst/>
              <a:ahLst/>
              <a:cxnLst/>
              <a:rect l="l" t="t" r="r" b="b"/>
              <a:pathLst>
                <a:path w="301031" h="298430">
                  <a:moveTo>
                    <a:pt x="108376" y="0"/>
                  </a:moveTo>
                  <a:lnTo>
                    <a:pt x="192655" y="0"/>
                  </a:lnTo>
                  <a:cubicBezTo>
                    <a:pt x="252509" y="0"/>
                    <a:pt x="301031" y="48521"/>
                    <a:pt x="301031" y="108376"/>
                  </a:cubicBezTo>
                  <a:lnTo>
                    <a:pt x="301031" y="190055"/>
                  </a:lnTo>
                  <a:cubicBezTo>
                    <a:pt x="301031" y="249909"/>
                    <a:pt x="252509" y="298430"/>
                    <a:pt x="192655" y="298430"/>
                  </a:cubicBezTo>
                  <a:lnTo>
                    <a:pt x="108376" y="298430"/>
                  </a:lnTo>
                  <a:cubicBezTo>
                    <a:pt x="48521" y="298430"/>
                    <a:pt x="0" y="249909"/>
                    <a:pt x="0" y="190055"/>
                  </a:cubicBezTo>
                  <a:lnTo>
                    <a:pt x="0" y="108376"/>
                  </a:lnTo>
                  <a:cubicBezTo>
                    <a:pt x="0" y="48521"/>
                    <a:pt x="48521" y="0"/>
                    <a:pt x="10837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301031" cy="336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848656" y="6297187"/>
            <a:ext cx="1037136" cy="518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90"/>
              </a:lnSpc>
              <a:spcBef>
                <a:spcPct val="0"/>
              </a:spcBef>
            </a:pPr>
            <a:r>
              <a:rPr lang="en-US" sz="2850">
                <a:solidFill>
                  <a:srgbClr val="00477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02</a:t>
            </a:r>
            <a:endParaRPr lang="en-US" sz="2850">
              <a:solidFill>
                <a:srgbClr val="00477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364112" y="4747418"/>
            <a:ext cx="13559777" cy="74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05"/>
              </a:lnSpc>
              <a:spcBef>
                <a:spcPct val="0"/>
              </a:spcBef>
            </a:pPr>
            <a:r>
              <a:rPr lang="en-US" sz="143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MediFlow+ integrates AI-powered tools to enhance clinical decision-making, streamline triage, and optimise hospital operations. All AI features require clinical validation before use in critical care pathways. Additional capabilities include a Treatment Cost Estimator and Smart Navigation to guide users efficiently through the system.</a:t>
            </a:r>
            <a:endParaRPr lang="en-US" sz="143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6263356" y="276584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3" y="0"/>
                </a:lnTo>
                <a:lnTo>
                  <a:pt x="1727053" y="1751131"/>
                </a:lnTo>
                <a:lnTo>
                  <a:pt x="0" y="175113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37778" y="0"/>
            <a:ext cx="7250222" cy="10287000"/>
            <a:chOff x="0" y="0"/>
            <a:chExt cx="492022" cy="6981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2022" cy="698107"/>
            </a:xfrm>
            <a:custGeom>
              <a:avLst/>
              <a:gdLst/>
              <a:ahLst/>
              <a:cxnLst/>
              <a:rect l="l" t="t" r="r" b="b"/>
              <a:pathLst>
                <a:path w="492022" h="698107">
                  <a:moveTo>
                    <a:pt x="0" y="0"/>
                  </a:moveTo>
                  <a:lnTo>
                    <a:pt x="492022" y="0"/>
                  </a:lnTo>
                  <a:lnTo>
                    <a:pt x="492022" y="698107"/>
                  </a:lnTo>
                  <a:lnTo>
                    <a:pt x="0" y="698107"/>
                  </a:ln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2022" cy="73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660101" y="1369169"/>
            <a:ext cx="4080501" cy="62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80"/>
              </a:lnSpc>
              <a:spcBef>
                <a:spcPct val="0"/>
              </a:spcBef>
            </a:pPr>
            <a:r>
              <a:rPr lang="en-US" sz="37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Patient</a:t>
            </a:r>
            <a:endParaRPr lang="en-US" sz="3700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660101" y="2373667"/>
            <a:ext cx="4080501" cy="62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80"/>
              </a:lnSpc>
              <a:spcBef>
                <a:spcPct val="0"/>
              </a:spcBef>
            </a:pPr>
            <a:r>
              <a:rPr lang="en-US" sz="37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Journey</a:t>
            </a:r>
            <a:endParaRPr lang="en-US" sz="3700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660101" y="3372682"/>
            <a:ext cx="4080501" cy="62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80"/>
              </a:lnSpc>
              <a:spcBef>
                <a:spcPct val="0"/>
              </a:spcBef>
            </a:pPr>
            <a:r>
              <a:rPr lang="en-US" sz="37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End-to-End Flow</a:t>
            </a:r>
            <a:endParaRPr lang="en-US" sz="3700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660101" y="5393366"/>
            <a:ext cx="4080501" cy="1679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0"/>
              </a:lnSpc>
              <a:spcBef>
                <a:spcPct val="0"/>
              </a:spcBef>
            </a:pPr>
            <a:r>
              <a:rPr lang="en-US" sz="1385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A 12-step end-to-end patient experience in MediFlow+, from initial registration through to follow-up care. Each phase is designed to be seamless, digitized, and patient-centred — ensuring continuity, clarity, and efficiency at every touchpoint across the healthcare journey.</a:t>
            </a:r>
            <a:endParaRPr lang="en-US" sz="1385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547913" y="1339559"/>
            <a:ext cx="8426442" cy="1597343"/>
            <a:chOff x="0" y="0"/>
            <a:chExt cx="2219310" cy="4206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19310" cy="420699"/>
            </a:xfrm>
            <a:custGeom>
              <a:avLst/>
              <a:gdLst/>
              <a:ahLst/>
              <a:cxnLst/>
              <a:rect l="l" t="t" r="r" b="b"/>
              <a:pathLst>
                <a:path w="2219310" h="420699">
                  <a:moveTo>
                    <a:pt x="21132" y="0"/>
                  </a:moveTo>
                  <a:lnTo>
                    <a:pt x="2198178" y="0"/>
                  </a:lnTo>
                  <a:cubicBezTo>
                    <a:pt x="2209849" y="0"/>
                    <a:pt x="2219310" y="9461"/>
                    <a:pt x="2219310" y="21132"/>
                  </a:cubicBezTo>
                  <a:lnTo>
                    <a:pt x="2219310" y="399568"/>
                  </a:lnTo>
                  <a:cubicBezTo>
                    <a:pt x="2219310" y="405172"/>
                    <a:pt x="2217083" y="410547"/>
                    <a:pt x="2213121" y="414510"/>
                  </a:cubicBezTo>
                  <a:cubicBezTo>
                    <a:pt x="2209158" y="418473"/>
                    <a:pt x="2203783" y="420699"/>
                    <a:pt x="2198178" y="420699"/>
                  </a:cubicBezTo>
                  <a:lnTo>
                    <a:pt x="21132" y="420699"/>
                  </a:lnTo>
                  <a:cubicBezTo>
                    <a:pt x="15527" y="420699"/>
                    <a:pt x="10152" y="418473"/>
                    <a:pt x="6189" y="414510"/>
                  </a:cubicBezTo>
                  <a:cubicBezTo>
                    <a:pt x="2226" y="410547"/>
                    <a:pt x="0" y="405172"/>
                    <a:pt x="0" y="399568"/>
                  </a:cubicBezTo>
                  <a:lnTo>
                    <a:pt x="0" y="21132"/>
                  </a:lnTo>
                  <a:cubicBezTo>
                    <a:pt x="0" y="15527"/>
                    <a:pt x="2226" y="10152"/>
                    <a:pt x="6189" y="6189"/>
                  </a:cubicBezTo>
                  <a:cubicBezTo>
                    <a:pt x="10152" y="2226"/>
                    <a:pt x="15527" y="0"/>
                    <a:pt x="21132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00477B">
                      <a:alpha val="100000"/>
                    </a:srgbClr>
                  </a:gs>
                  <a:gs pos="100000">
                    <a:srgbClr val="5DD8E1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19310" cy="458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47913" y="3343072"/>
            <a:ext cx="8426442" cy="1597343"/>
            <a:chOff x="0" y="0"/>
            <a:chExt cx="2219310" cy="4206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19310" cy="420699"/>
            </a:xfrm>
            <a:custGeom>
              <a:avLst/>
              <a:gdLst/>
              <a:ahLst/>
              <a:cxnLst/>
              <a:rect l="l" t="t" r="r" b="b"/>
              <a:pathLst>
                <a:path w="2219310" h="420699">
                  <a:moveTo>
                    <a:pt x="21132" y="0"/>
                  </a:moveTo>
                  <a:lnTo>
                    <a:pt x="2198178" y="0"/>
                  </a:lnTo>
                  <a:cubicBezTo>
                    <a:pt x="2209849" y="0"/>
                    <a:pt x="2219310" y="9461"/>
                    <a:pt x="2219310" y="21132"/>
                  </a:cubicBezTo>
                  <a:lnTo>
                    <a:pt x="2219310" y="399568"/>
                  </a:lnTo>
                  <a:cubicBezTo>
                    <a:pt x="2219310" y="405172"/>
                    <a:pt x="2217083" y="410547"/>
                    <a:pt x="2213121" y="414510"/>
                  </a:cubicBezTo>
                  <a:cubicBezTo>
                    <a:pt x="2209158" y="418473"/>
                    <a:pt x="2203783" y="420699"/>
                    <a:pt x="2198178" y="420699"/>
                  </a:cubicBezTo>
                  <a:lnTo>
                    <a:pt x="21132" y="420699"/>
                  </a:lnTo>
                  <a:cubicBezTo>
                    <a:pt x="15527" y="420699"/>
                    <a:pt x="10152" y="418473"/>
                    <a:pt x="6189" y="414510"/>
                  </a:cubicBezTo>
                  <a:cubicBezTo>
                    <a:pt x="2226" y="410547"/>
                    <a:pt x="0" y="405172"/>
                    <a:pt x="0" y="399568"/>
                  </a:cubicBezTo>
                  <a:lnTo>
                    <a:pt x="0" y="21132"/>
                  </a:lnTo>
                  <a:cubicBezTo>
                    <a:pt x="0" y="15527"/>
                    <a:pt x="2226" y="10152"/>
                    <a:pt x="6189" y="6189"/>
                  </a:cubicBezTo>
                  <a:cubicBezTo>
                    <a:pt x="10152" y="2226"/>
                    <a:pt x="15527" y="0"/>
                    <a:pt x="211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19310" cy="458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181396" y="1664297"/>
            <a:ext cx="2082223" cy="87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Phase 1</a:t>
            </a:r>
            <a:endParaRPr lang="en-US" sz="24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Onboarding</a:t>
            </a:r>
            <a:endParaRPr lang="en-US" sz="24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181396" y="3667811"/>
            <a:ext cx="2082223" cy="87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Phase 2</a:t>
            </a:r>
            <a:endParaRPr lang="en-US" sz="243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Booking</a:t>
            </a:r>
            <a:endParaRPr lang="en-US" sz="243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60666" y="1705795"/>
            <a:ext cx="4280207" cy="83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Steps 1–3: Register or Login → Verify Account → Access Dashboard. Patient creates a secure account, completes identity verification, and gains access to their personalized MediFlow+ dashboard.</a:t>
            </a:r>
            <a:endParaRPr lang="en-US" sz="12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060666" y="3709308"/>
            <a:ext cx="4280207" cy="83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Steps 4–6: Find a Doctor → Book Appointment → Track Queue. Patient searches for an available doctor by specialty, books a preferred time slot, and monitors real-time queue position before the consultation.</a:t>
            </a:r>
            <a:endParaRPr lang="en-US" sz="1200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547913" y="5346585"/>
            <a:ext cx="8426442" cy="1597343"/>
            <a:chOff x="0" y="0"/>
            <a:chExt cx="2219310" cy="4206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19310" cy="420699"/>
            </a:xfrm>
            <a:custGeom>
              <a:avLst/>
              <a:gdLst/>
              <a:ahLst/>
              <a:cxnLst/>
              <a:rect l="l" t="t" r="r" b="b"/>
              <a:pathLst>
                <a:path w="2219310" h="420699">
                  <a:moveTo>
                    <a:pt x="21132" y="0"/>
                  </a:moveTo>
                  <a:lnTo>
                    <a:pt x="2198178" y="0"/>
                  </a:lnTo>
                  <a:cubicBezTo>
                    <a:pt x="2209849" y="0"/>
                    <a:pt x="2219310" y="9461"/>
                    <a:pt x="2219310" y="21132"/>
                  </a:cubicBezTo>
                  <a:lnTo>
                    <a:pt x="2219310" y="399568"/>
                  </a:lnTo>
                  <a:cubicBezTo>
                    <a:pt x="2219310" y="405172"/>
                    <a:pt x="2217083" y="410547"/>
                    <a:pt x="2213121" y="414510"/>
                  </a:cubicBezTo>
                  <a:cubicBezTo>
                    <a:pt x="2209158" y="418473"/>
                    <a:pt x="2203783" y="420699"/>
                    <a:pt x="2198178" y="420699"/>
                  </a:cubicBezTo>
                  <a:lnTo>
                    <a:pt x="21132" y="420699"/>
                  </a:lnTo>
                  <a:cubicBezTo>
                    <a:pt x="15527" y="420699"/>
                    <a:pt x="10152" y="418473"/>
                    <a:pt x="6189" y="414510"/>
                  </a:cubicBezTo>
                  <a:cubicBezTo>
                    <a:pt x="2226" y="410547"/>
                    <a:pt x="0" y="405172"/>
                    <a:pt x="0" y="399568"/>
                  </a:cubicBezTo>
                  <a:lnTo>
                    <a:pt x="0" y="21132"/>
                  </a:lnTo>
                  <a:cubicBezTo>
                    <a:pt x="0" y="15527"/>
                    <a:pt x="2226" y="10152"/>
                    <a:pt x="6189" y="6189"/>
                  </a:cubicBezTo>
                  <a:cubicBezTo>
                    <a:pt x="10152" y="2226"/>
                    <a:pt x="15527" y="0"/>
                    <a:pt x="21132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00477B">
                      <a:alpha val="100000"/>
                    </a:srgbClr>
                  </a:gs>
                  <a:gs pos="100000">
                    <a:srgbClr val="5DD8E1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219310" cy="458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181396" y="5671324"/>
            <a:ext cx="2082223" cy="87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Phase 3</a:t>
            </a:r>
            <a:endParaRPr lang="en-US" sz="24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Clinical Care</a:t>
            </a:r>
            <a:endParaRPr lang="en-US" sz="24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060666" y="5608047"/>
            <a:ext cx="4280207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Steps 7–9: Attend Consultation → Complete Laboratory Orders → Obtain Medication. Doctor conducts the consultation, issues lab orders and prescriptions, and pharmacy dispenses medication through the integrated system.</a:t>
            </a:r>
            <a:endParaRPr lang="en-US" sz="12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547913" y="7350098"/>
            <a:ext cx="8426442" cy="1597343"/>
            <a:chOff x="0" y="0"/>
            <a:chExt cx="2219310" cy="42069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19310" cy="420699"/>
            </a:xfrm>
            <a:custGeom>
              <a:avLst/>
              <a:gdLst/>
              <a:ahLst/>
              <a:cxnLst/>
              <a:rect l="l" t="t" r="r" b="b"/>
              <a:pathLst>
                <a:path w="2219310" h="420699">
                  <a:moveTo>
                    <a:pt x="21132" y="0"/>
                  </a:moveTo>
                  <a:lnTo>
                    <a:pt x="2198178" y="0"/>
                  </a:lnTo>
                  <a:cubicBezTo>
                    <a:pt x="2209849" y="0"/>
                    <a:pt x="2219310" y="9461"/>
                    <a:pt x="2219310" y="21132"/>
                  </a:cubicBezTo>
                  <a:lnTo>
                    <a:pt x="2219310" y="399568"/>
                  </a:lnTo>
                  <a:cubicBezTo>
                    <a:pt x="2219310" y="405172"/>
                    <a:pt x="2217083" y="410547"/>
                    <a:pt x="2213121" y="414510"/>
                  </a:cubicBezTo>
                  <a:cubicBezTo>
                    <a:pt x="2209158" y="418473"/>
                    <a:pt x="2203783" y="420699"/>
                    <a:pt x="2198178" y="420699"/>
                  </a:cubicBezTo>
                  <a:lnTo>
                    <a:pt x="21132" y="420699"/>
                  </a:lnTo>
                  <a:cubicBezTo>
                    <a:pt x="15527" y="420699"/>
                    <a:pt x="10152" y="418473"/>
                    <a:pt x="6189" y="414510"/>
                  </a:cubicBezTo>
                  <a:cubicBezTo>
                    <a:pt x="2226" y="410547"/>
                    <a:pt x="0" y="405172"/>
                    <a:pt x="0" y="399568"/>
                  </a:cubicBezTo>
                  <a:lnTo>
                    <a:pt x="0" y="21132"/>
                  </a:lnTo>
                  <a:cubicBezTo>
                    <a:pt x="0" y="15527"/>
                    <a:pt x="2226" y="10152"/>
                    <a:pt x="6189" y="6189"/>
                  </a:cubicBezTo>
                  <a:cubicBezTo>
                    <a:pt x="10152" y="2226"/>
                    <a:pt x="15527" y="0"/>
                    <a:pt x="21132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00477B">
                      <a:alpha val="100000"/>
                    </a:srgbClr>
                  </a:gs>
                  <a:gs pos="100000">
                    <a:srgbClr val="5DD8E1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219310" cy="458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181396" y="7674837"/>
            <a:ext cx="1938836" cy="87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Phase 4</a:t>
            </a:r>
            <a:endParaRPr lang="en-US" sz="24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Completion</a:t>
            </a:r>
            <a:endParaRPr lang="en-US" sz="24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060666" y="7611560"/>
            <a:ext cx="4280207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Steps 10–12: Complete Billing &amp; Payment → Receive Notifications → Attend Follow-Up. Patient settles the bill digitally, receives automated care notifications, and schedules a follow-up appointment to close the care cycle.</a:t>
            </a:r>
            <a:endParaRPr lang="en-US" sz="12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6263356" y="9094410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3" y="0"/>
                </a:lnTo>
                <a:lnTo>
                  <a:pt x="1727053" y="1751131"/>
                </a:lnTo>
                <a:lnTo>
                  <a:pt x="0" y="175113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7913" y="4474721"/>
            <a:ext cx="3633266" cy="4189375"/>
            <a:chOff x="0" y="0"/>
            <a:chExt cx="652781" cy="7526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2781" cy="752696"/>
            </a:xfrm>
            <a:custGeom>
              <a:avLst/>
              <a:gdLst/>
              <a:ahLst/>
              <a:cxnLst/>
              <a:rect l="l" t="t" r="r" b="b"/>
              <a:pathLst>
                <a:path w="652781" h="752696">
                  <a:moveTo>
                    <a:pt x="68187" y="0"/>
                  </a:moveTo>
                  <a:lnTo>
                    <a:pt x="584594" y="0"/>
                  </a:lnTo>
                  <a:cubicBezTo>
                    <a:pt x="602678" y="0"/>
                    <a:pt x="620022" y="7184"/>
                    <a:pt x="632809" y="19972"/>
                  </a:cubicBezTo>
                  <a:cubicBezTo>
                    <a:pt x="645597" y="32759"/>
                    <a:pt x="652781" y="50103"/>
                    <a:pt x="652781" y="68187"/>
                  </a:cubicBezTo>
                  <a:lnTo>
                    <a:pt x="652781" y="684509"/>
                  </a:lnTo>
                  <a:cubicBezTo>
                    <a:pt x="652781" y="702593"/>
                    <a:pt x="645597" y="719937"/>
                    <a:pt x="632809" y="732724"/>
                  </a:cubicBezTo>
                  <a:cubicBezTo>
                    <a:pt x="620022" y="745512"/>
                    <a:pt x="602678" y="752696"/>
                    <a:pt x="584594" y="752696"/>
                  </a:cubicBezTo>
                  <a:lnTo>
                    <a:pt x="68187" y="752696"/>
                  </a:lnTo>
                  <a:cubicBezTo>
                    <a:pt x="50103" y="752696"/>
                    <a:pt x="32759" y="745512"/>
                    <a:pt x="19972" y="732724"/>
                  </a:cubicBezTo>
                  <a:cubicBezTo>
                    <a:pt x="7184" y="719937"/>
                    <a:pt x="0" y="702593"/>
                    <a:pt x="0" y="684509"/>
                  </a:cubicBezTo>
                  <a:lnTo>
                    <a:pt x="0" y="68187"/>
                  </a:lnTo>
                  <a:cubicBezTo>
                    <a:pt x="0" y="50103"/>
                    <a:pt x="7184" y="32759"/>
                    <a:pt x="19972" y="19972"/>
                  </a:cubicBezTo>
                  <a:cubicBezTo>
                    <a:pt x="32759" y="7184"/>
                    <a:pt x="50103" y="0"/>
                    <a:pt x="68187" y="0"/>
                  </a:cubicBezTo>
                  <a:close/>
                </a:path>
              </a:pathLst>
            </a:custGeom>
            <a:blipFill>
              <a:blip r:embed="rId1"/>
              <a:stretch>
                <a:fillRect t="-58" b="-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7424473" y="6912965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4" y="0"/>
                </a:lnTo>
                <a:lnTo>
                  <a:pt x="1727054" y="1751131"/>
                </a:lnTo>
                <a:lnTo>
                  <a:pt x="0" y="1751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547913" y="1499079"/>
            <a:ext cx="7842864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Role-Based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47913" y="2498094"/>
            <a:ext cx="7842864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Dashboards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312997" y="1836790"/>
            <a:ext cx="5427606" cy="152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5"/>
              </a:lnSpc>
              <a:spcBef>
                <a:spcPct val="0"/>
              </a:spcBef>
            </a:pPr>
            <a:r>
              <a:rPr lang="en-US" sz="173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MediFlow+ delivers tailored dashboard experiences for every user role — ensuring each stakeholder sees exactly the information and tools they need to perform their responsibilities efficiently and effectively.</a:t>
            </a:r>
            <a:endParaRPr lang="en-US" sz="173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312997" y="4417571"/>
            <a:ext cx="3195783" cy="35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5"/>
              </a:lnSpc>
              <a:spcBef>
                <a:spcPct val="0"/>
              </a:spcBef>
            </a:pPr>
            <a:r>
              <a:rPr lang="en-US" sz="1935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Doctor Workspace</a:t>
            </a:r>
            <a:endParaRPr lang="en-US" sz="1935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131793" y="4417571"/>
            <a:ext cx="3195783" cy="35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5"/>
              </a:lnSpc>
              <a:spcBef>
                <a:spcPct val="0"/>
              </a:spcBef>
            </a:pPr>
            <a:r>
              <a:rPr lang="en-US" sz="1935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Patient Dashboard</a:t>
            </a:r>
            <a:endParaRPr lang="en-US" sz="1935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312997" y="6974394"/>
            <a:ext cx="3195783" cy="35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5"/>
              </a:lnSpc>
              <a:spcBef>
                <a:spcPct val="0"/>
              </a:spcBef>
            </a:pPr>
            <a:r>
              <a:rPr lang="en-US" sz="1935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Family-Care Dashboard</a:t>
            </a:r>
            <a:endParaRPr lang="en-US" sz="1935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131793" y="6974394"/>
            <a:ext cx="3195783" cy="35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5"/>
              </a:lnSpc>
              <a:spcBef>
                <a:spcPct val="0"/>
              </a:spcBef>
            </a:pPr>
            <a:r>
              <a:rPr lang="en-US" sz="1935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Admin Command Centre</a:t>
            </a:r>
            <a:endParaRPr lang="en-US" sz="1935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312997" y="5040473"/>
            <a:ext cx="4230590" cy="10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Manage consultations and patient notes, issue diagnoses and prescriptions, request lab orders, and review complete medical histories.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131793" y="5040473"/>
            <a:ext cx="4230590" cy="10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Appointment booking and history, medical records access, real-time queue tracking, test results, and prescription summaries in one unified view.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312997" y="7597296"/>
            <a:ext cx="4230590" cy="10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Monitor patient status and care updates in real time, manage visitor pass requests, and stay informed about treatment progress and discharge planning.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131793" y="7597296"/>
            <a:ext cx="4230590" cy="10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Full operational oversight including bed and ward management, staff administration, billing control, system analytics, and role-based user management.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930587"/>
            <a:chOff x="0" y="0"/>
            <a:chExt cx="1241078" cy="2667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1078" cy="266741"/>
            </a:xfrm>
            <a:custGeom>
              <a:avLst/>
              <a:gdLst/>
              <a:ahLst/>
              <a:cxnLst/>
              <a:rect l="l" t="t" r="r" b="b"/>
              <a:pathLst>
                <a:path w="1241078" h="266741">
                  <a:moveTo>
                    <a:pt x="0" y="0"/>
                  </a:moveTo>
                  <a:lnTo>
                    <a:pt x="1241078" y="0"/>
                  </a:lnTo>
                  <a:lnTo>
                    <a:pt x="1241078" y="266741"/>
                  </a:lnTo>
                  <a:lnTo>
                    <a:pt x="0" y="266741"/>
                  </a:ln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41078" cy="304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06616" y="1159321"/>
            <a:ext cx="11874767" cy="746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00"/>
              </a:lnSpc>
              <a:spcBef>
                <a:spcPct val="0"/>
              </a:spcBef>
            </a:pPr>
            <a:r>
              <a:rPr lang="en-US" sz="4355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Technical Architecture</a:t>
            </a:r>
            <a:endParaRPr lang="en-US" sz="4355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09544" y="2158336"/>
            <a:ext cx="8668913" cy="746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00"/>
              </a:lnSpc>
              <a:spcBef>
                <a:spcPct val="0"/>
              </a:spcBef>
            </a:pPr>
            <a:r>
              <a:rPr lang="en-US" sz="4355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System Layers &amp; Technologies</a:t>
            </a:r>
            <a:endParaRPr lang="en-US" sz="4355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547913" y="6678650"/>
            <a:ext cx="7425110" cy="2363304"/>
            <a:chOff x="0" y="0"/>
            <a:chExt cx="1955585" cy="6224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5585" cy="622434"/>
            </a:xfrm>
            <a:custGeom>
              <a:avLst/>
              <a:gdLst/>
              <a:ahLst/>
              <a:cxnLst/>
              <a:rect l="l" t="t" r="r" b="b"/>
              <a:pathLst>
                <a:path w="1955585" h="622434">
                  <a:moveTo>
                    <a:pt x="23981" y="0"/>
                  </a:moveTo>
                  <a:lnTo>
                    <a:pt x="1931603" y="0"/>
                  </a:lnTo>
                  <a:cubicBezTo>
                    <a:pt x="1937964" y="0"/>
                    <a:pt x="1944063" y="2527"/>
                    <a:pt x="1948561" y="7024"/>
                  </a:cubicBezTo>
                  <a:cubicBezTo>
                    <a:pt x="1953058" y="11521"/>
                    <a:pt x="1955585" y="17621"/>
                    <a:pt x="1955585" y="23981"/>
                  </a:cubicBezTo>
                  <a:lnTo>
                    <a:pt x="1955585" y="598453"/>
                  </a:lnTo>
                  <a:cubicBezTo>
                    <a:pt x="1955585" y="611697"/>
                    <a:pt x="1944848" y="622434"/>
                    <a:pt x="1931603" y="622434"/>
                  </a:cubicBezTo>
                  <a:lnTo>
                    <a:pt x="23981" y="622434"/>
                  </a:lnTo>
                  <a:cubicBezTo>
                    <a:pt x="10737" y="622434"/>
                    <a:pt x="0" y="611697"/>
                    <a:pt x="0" y="598453"/>
                  </a:cubicBezTo>
                  <a:lnTo>
                    <a:pt x="0" y="23981"/>
                  </a:lnTo>
                  <a:cubicBezTo>
                    <a:pt x="0" y="10737"/>
                    <a:pt x="10737" y="0"/>
                    <a:pt x="239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955585" cy="66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15492" y="6678650"/>
            <a:ext cx="7425110" cy="2363304"/>
            <a:chOff x="0" y="0"/>
            <a:chExt cx="1955585" cy="6224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55585" cy="622434"/>
            </a:xfrm>
            <a:custGeom>
              <a:avLst/>
              <a:gdLst/>
              <a:ahLst/>
              <a:cxnLst/>
              <a:rect l="l" t="t" r="r" b="b"/>
              <a:pathLst>
                <a:path w="1955585" h="622434">
                  <a:moveTo>
                    <a:pt x="23981" y="0"/>
                  </a:moveTo>
                  <a:lnTo>
                    <a:pt x="1931603" y="0"/>
                  </a:lnTo>
                  <a:cubicBezTo>
                    <a:pt x="1937964" y="0"/>
                    <a:pt x="1944063" y="2527"/>
                    <a:pt x="1948561" y="7024"/>
                  </a:cubicBezTo>
                  <a:cubicBezTo>
                    <a:pt x="1953058" y="11521"/>
                    <a:pt x="1955585" y="17621"/>
                    <a:pt x="1955585" y="23981"/>
                  </a:cubicBezTo>
                  <a:lnTo>
                    <a:pt x="1955585" y="598453"/>
                  </a:lnTo>
                  <a:cubicBezTo>
                    <a:pt x="1955585" y="611697"/>
                    <a:pt x="1944848" y="622434"/>
                    <a:pt x="1931603" y="622434"/>
                  </a:cubicBezTo>
                  <a:lnTo>
                    <a:pt x="23981" y="622434"/>
                  </a:lnTo>
                  <a:cubicBezTo>
                    <a:pt x="10737" y="622434"/>
                    <a:pt x="0" y="611697"/>
                    <a:pt x="0" y="598453"/>
                  </a:cubicBezTo>
                  <a:lnTo>
                    <a:pt x="0" y="23981"/>
                  </a:lnTo>
                  <a:cubicBezTo>
                    <a:pt x="0" y="10737"/>
                    <a:pt x="10737" y="0"/>
                    <a:pt x="239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55585" cy="66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028157" y="7655386"/>
            <a:ext cx="2628147" cy="799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5"/>
              </a:lnSpc>
              <a:spcBef>
                <a:spcPct val="0"/>
              </a:spcBef>
            </a:pPr>
            <a:r>
              <a:rPr lang="en-US" sz="229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Browser &amp; Application Layer</a:t>
            </a:r>
            <a:endParaRPr lang="en-US" sz="229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795736" y="7655386"/>
            <a:ext cx="2743774" cy="799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5"/>
              </a:lnSpc>
              <a:spcBef>
                <a:spcPct val="0"/>
              </a:spcBef>
            </a:pPr>
            <a:r>
              <a:rPr lang="en-US" sz="229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Data Access &amp; Security Layer</a:t>
            </a:r>
            <a:endParaRPr lang="en-US" sz="229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241204" y="7299786"/>
            <a:ext cx="3251060" cy="1092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5"/>
              </a:lnSpc>
              <a:spcBef>
                <a:spcPct val="0"/>
              </a:spcBef>
            </a:pPr>
            <a:r>
              <a:rPr lang="en-US" sz="1240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HTML5, CSS3, Vanilla JavaScript for the responsive UI. PHP 8 Application &amp; Services Layer handling business logic. Session Authentication &amp; Role-Based Authorization controlling access.</a:t>
            </a:r>
            <a:endParaRPr lang="en-US" sz="1240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008783" y="7190248"/>
            <a:ext cx="3251060" cy="131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5"/>
              </a:lnSpc>
              <a:spcBef>
                <a:spcPct val="0"/>
              </a:spcBef>
            </a:pPr>
            <a:r>
              <a:rPr lang="en-US" sz="1240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PDO Data Access Layer for secure, abstracted database queries. MySQL relational database storing all clinical and operational records. Prepared statements enforcing SQL injection prevention.</a:t>
            </a:r>
            <a:endParaRPr lang="en-US" sz="1240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2028157" y="6112099"/>
            <a:ext cx="1142976" cy="1133102"/>
            <a:chOff x="0" y="0"/>
            <a:chExt cx="301031" cy="29843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1031" cy="298430"/>
            </a:xfrm>
            <a:custGeom>
              <a:avLst/>
              <a:gdLst/>
              <a:ahLst/>
              <a:cxnLst/>
              <a:rect l="l" t="t" r="r" b="b"/>
              <a:pathLst>
                <a:path w="301031" h="298430">
                  <a:moveTo>
                    <a:pt x="108376" y="0"/>
                  </a:moveTo>
                  <a:lnTo>
                    <a:pt x="192655" y="0"/>
                  </a:lnTo>
                  <a:cubicBezTo>
                    <a:pt x="252509" y="0"/>
                    <a:pt x="301031" y="48521"/>
                    <a:pt x="301031" y="108376"/>
                  </a:cubicBezTo>
                  <a:lnTo>
                    <a:pt x="301031" y="190055"/>
                  </a:lnTo>
                  <a:cubicBezTo>
                    <a:pt x="301031" y="249909"/>
                    <a:pt x="252509" y="298430"/>
                    <a:pt x="192655" y="298430"/>
                  </a:cubicBezTo>
                  <a:lnTo>
                    <a:pt x="108376" y="298430"/>
                  </a:lnTo>
                  <a:cubicBezTo>
                    <a:pt x="48521" y="298430"/>
                    <a:pt x="0" y="249909"/>
                    <a:pt x="0" y="190055"/>
                  </a:cubicBezTo>
                  <a:lnTo>
                    <a:pt x="0" y="108376"/>
                  </a:lnTo>
                  <a:cubicBezTo>
                    <a:pt x="0" y="48521"/>
                    <a:pt x="48521" y="0"/>
                    <a:pt x="10837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01031" cy="336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081077" y="6268612"/>
            <a:ext cx="1037136" cy="668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0"/>
              </a:lnSpc>
              <a:spcBef>
                <a:spcPct val="0"/>
              </a:spcBef>
            </a:pPr>
            <a:r>
              <a:rPr lang="en-US" sz="3695">
                <a:solidFill>
                  <a:srgbClr val="00477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01</a:t>
            </a:r>
            <a:endParaRPr lang="en-US" sz="3695">
              <a:solidFill>
                <a:srgbClr val="00477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9795736" y="6112099"/>
            <a:ext cx="1142976" cy="1133102"/>
            <a:chOff x="0" y="0"/>
            <a:chExt cx="301031" cy="29843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1031" cy="298430"/>
            </a:xfrm>
            <a:custGeom>
              <a:avLst/>
              <a:gdLst/>
              <a:ahLst/>
              <a:cxnLst/>
              <a:rect l="l" t="t" r="r" b="b"/>
              <a:pathLst>
                <a:path w="301031" h="298430">
                  <a:moveTo>
                    <a:pt x="108376" y="0"/>
                  </a:moveTo>
                  <a:lnTo>
                    <a:pt x="192655" y="0"/>
                  </a:lnTo>
                  <a:cubicBezTo>
                    <a:pt x="252509" y="0"/>
                    <a:pt x="301031" y="48521"/>
                    <a:pt x="301031" y="108376"/>
                  </a:cubicBezTo>
                  <a:lnTo>
                    <a:pt x="301031" y="190055"/>
                  </a:lnTo>
                  <a:cubicBezTo>
                    <a:pt x="301031" y="249909"/>
                    <a:pt x="252509" y="298430"/>
                    <a:pt x="192655" y="298430"/>
                  </a:cubicBezTo>
                  <a:lnTo>
                    <a:pt x="108376" y="298430"/>
                  </a:lnTo>
                  <a:cubicBezTo>
                    <a:pt x="48521" y="298430"/>
                    <a:pt x="0" y="249909"/>
                    <a:pt x="0" y="190055"/>
                  </a:cubicBezTo>
                  <a:lnTo>
                    <a:pt x="0" y="108376"/>
                  </a:lnTo>
                  <a:cubicBezTo>
                    <a:pt x="0" y="48521"/>
                    <a:pt x="48521" y="0"/>
                    <a:pt x="10837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301031" cy="336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848656" y="6268612"/>
            <a:ext cx="1037136" cy="668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0"/>
              </a:lnSpc>
              <a:spcBef>
                <a:spcPct val="0"/>
              </a:spcBef>
            </a:pPr>
            <a:r>
              <a:rPr lang="en-US" sz="3695">
                <a:solidFill>
                  <a:srgbClr val="00477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02</a:t>
            </a:r>
            <a:endParaRPr lang="en-US" sz="3695">
              <a:solidFill>
                <a:srgbClr val="00477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364112" y="4747418"/>
            <a:ext cx="13559777" cy="497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05"/>
              </a:lnSpc>
              <a:spcBef>
                <a:spcPct val="0"/>
              </a:spcBef>
            </a:pPr>
            <a:r>
              <a:rPr lang="en-US" sz="143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MediFlow+ is built on a layered web architecture using PHP 8, MySQL, and Vanilla JavaScript. Each layer is independently responsible — from the browser UI to the database — ensuring modularity, security, and maintainability across all hospital management workflows.</a:t>
            </a:r>
            <a:endParaRPr lang="en-US" sz="143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6263356" y="276584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3" y="0"/>
                </a:lnTo>
                <a:lnTo>
                  <a:pt x="1727053" y="1751131"/>
                </a:lnTo>
                <a:lnTo>
                  <a:pt x="0" y="175113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99261" cy="10287000"/>
            <a:chOff x="0" y="0"/>
            <a:chExt cx="536067" cy="6981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6067" cy="698107"/>
            </a:xfrm>
            <a:custGeom>
              <a:avLst/>
              <a:gdLst/>
              <a:ahLst/>
              <a:cxnLst/>
              <a:rect l="l" t="t" r="r" b="b"/>
              <a:pathLst>
                <a:path w="536067" h="698107">
                  <a:moveTo>
                    <a:pt x="0" y="0"/>
                  </a:moveTo>
                  <a:lnTo>
                    <a:pt x="536067" y="0"/>
                  </a:lnTo>
                  <a:lnTo>
                    <a:pt x="536067" y="698107"/>
                  </a:lnTo>
                  <a:lnTo>
                    <a:pt x="0" y="698107"/>
                  </a:ln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6067" cy="73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757364" y="1385752"/>
            <a:ext cx="4377787" cy="3495810"/>
            <a:chOff x="0" y="0"/>
            <a:chExt cx="1152997" cy="9207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52997" cy="920707"/>
            </a:xfrm>
            <a:custGeom>
              <a:avLst/>
              <a:gdLst/>
              <a:ahLst/>
              <a:cxnLst/>
              <a:rect l="l" t="t" r="r" b="b"/>
              <a:pathLst>
                <a:path w="1152997" h="920707">
                  <a:moveTo>
                    <a:pt x="54822" y="0"/>
                  </a:moveTo>
                  <a:lnTo>
                    <a:pt x="1098175" y="0"/>
                  </a:lnTo>
                  <a:cubicBezTo>
                    <a:pt x="1112715" y="0"/>
                    <a:pt x="1126659" y="5776"/>
                    <a:pt x="1136940" y="16057"/>
                  </a:cubicBezTo>
                  <a:cubicBezTo>
                    <a:pt x="1147221" y="26338"/>
                    <a:pt x="1152997" y="40282"/>
                    <a:pt x="1152997" y="54822"/>
                  </a:cubicBezTo>
                  <a:lnTo>
                    <a:pt x="1152997" y="865885"/>
                  </a:lnTo>
                  <a:cubicBezTo>
                    <a:pt x="1152997" y="880425"/>
                    <a:pt x="1147221" y="894369"/>
                    <a:pt x="1136940" y="904650"/>
                  </a:cubicBezTo>
                  <a:cubicBezTo>
                    <a:pt x="1126659" y="914931"/>
                    <a:pt x="1112715" y="920707"/>
                    <a:pt x="1098175" y="920707"/>
                  </a:cubicBezTo>
                  <a:lnTo>
                    <a:pt x="54822" y="920707"/>
                  </a:lnTo>
                  <a:cubicBezTo>
                    <a:pt x="24545" y="920707"/>
                    <a:pt x="0" y="896162"/>
                    <a:pt x="0" y="865885"/>
                  </a:cubicBezTo>
                  <a:lnTo>
                    <a:pt x="0" y="54822"/>
                  </a:lnTo>
                  <a:cubicBezTo>
                    <a:pt x="0" y="24545"/>
                    <a:pt x="24545" y="0"/>
                    <a:pt x="5482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52997" cy="958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57364" y="5405437"/>
            <a:ext cx="4377787" cy="3495810"/>
            <a:chOff x="0" y="0"/>
            <a:chExt cx="1152997" cy="9207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2997" cy="920707"/>
            </a:xfrm>
            <a:custGeom>
              <a:avLst/>
              <a:gdLst/>
              <a:ahLst/>
              <a:cxnLst/>
              <a:rect l="l" t="t" r="r" b="b"/>
              <a:pathLst>
                <a:path w="1152997" h="920707">
                  <a:moveTo>
                    <a:pt x="54822" y="0"/>
                  </a:moveTo>
                  <a:lnTo>
                    <a:pt x="1098175" y="0"/>
                  </a:lnTo>
                  <a:cubicBezTo>
                    <a:pt x="1112715" y="0"/>
                    <a:pt x="1126659" y="5776"/>
                    <a:pt x="1136940" y="16057"/>
                  </a:cubicBezTo>
                  <a:cubicBezTo>
                    <a:pt x="1147221" y="26338"/>
                    <a:pt x="1152997" y="40282"/>
                    <a:pt x="1152997" y="54822"/>
                  </a:cubicBezTo>
                  <a:lnTo>
                    <a:pt x="1152997" y="865885"/>
                  </a:lnTo>
                  <a:cubicBezTo>
                    <a:pt x="1152997" y="880425"/>
                    <a:pt x="1147221" y="894369"/>
                    <a:pt x="1136940" y="904650"/>
                  </a:cubicBezTo>
                  <a:cubicBezTo>
                    <a:pt x="1126659" y="914931"/>
                    <a:pt x="1112715" y="920707"/>
                    <a:pt x="1098175" y="920707"/>
                  </a:cubicBezTo>
                  <a:lnTo>
                    <a:pt x="54822" y="920707"/>
                  </a:lnTo>
                  <a:cubicBezTo>
                    <a:pt x="24545" y="920707"/>
                    <a:pt x="0" y="896162"/>
                    <a:pt x="0" y="865885"/>
                  </a:cubicBezTo>
                  <a:lnTo>
                    <a:pt x="0" y="54822"/>
                  </a:lnTo>
                  <a:cubicBezTo>
                    <a:pt x="0" y="24545"/>
                    <a:pt x="24545" y="0"/>
                    <a:pt x="5482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52997" cy="958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880445" y="1859759"/>
            <a:ext cx="718022" cy="723987"/>
            <a:chOff x="0" y="0"/>
            <a:chExt cx="189109" cy="1906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9109" cy="190680"/>
            </a:xfrm>
            <a:custGeom>
              <a:avLst/>
              <a:gdLst/>
              <a:ahLst/>
              <a:cxnLst/>
              <a:rect l="l" t="t" r="r" b="b"/>
              <a:pathLst>
                <a:path w="189109" h="190680">
                  <a:moveTo>
                    <a:pt x="94554" y="0"/>
                  </a:moveTo>
                  <a:lnTo>
                    <a:pt x="94554" y="0"/>
                  </a:lnTo>
                  <a:cubicBezTo>
                    <a:pt x="119632" y="0"/>
                    <a:pt x="143682" y="9962"/>
                    <a:pt x="161414" y="27694"/>
                  </a:cubicBezTo>
                  <a:cubicBezTo>
                    <a:pt x="179147" y="45427"/>
                    <a:pt x="189109" y="69477"/>
                    <a:pt x="189109" y="94554"/>
                  </a:cubicBezTo>
                  <a:lnTo>
                    <a:pt x="189109" y="96125"/>
                  </a:lnTo>
                  <a:cubicBezTo>
                    <a:pt x="189109" y="148346"/>
                    <a:pt x="146775" y="190680"/>
                    <a:pt x="94554" y="190680"/>
                  </a:cubicBezTo>
                  <a:lnTo>
                    <a:pt x="94554" y="190680"/>
                  </a:lnTo>
                  <a:cubicBezTo>
                    <a:pt x="69477" y="190680"/>
                    <a:pt x="45427" y="180718"/>
                    <a:pt x="27694" y="162985"/>
                  </a:cubicBezTo>
                  <a:cubicBezTo>
                    <a:pt x="9962" y="145253"/>
                    <a:pt x="0" y="121203"/>
                    <a:pt x="0" y="96125"/>
                  </a:cubicBezTo>
                  <a:lnTo>
                    <a:pt x="0" y="94554"/>
                  </a:lnTo>
                  <a:cubicBezTo>
                    <a:pt x="0" y="42333"/>
                    <a:pt x="42333" y="0"/>
                    <a:pt x="945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9109" cy="228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880445" y="5879445"/>
            <a:ext cx="718022" cy="723987"/>
            <a:chOff x="0" y="0"/>
            <a:chExt cx="189109" cy="1906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9109" cy="190680"/>
            </a:xfrm>
            <a:custGeom>
              <a:avLst/>
              <a:gdLst/>
              <a:ahLst/>
              <a:cxnLst/>
              <a:rect l="l" t="t" r="r" b="b"/>
              <a:pathLst>
                <a:path w="189109" h="190680">
                  <a:moveTo>
                    <a:pt x="94554" y="0"/>
                  </a:moveTo>
                  <a:lnTo>
                    <a:pt x="94554" y="0"/>
                  </a:lnTo>
                  <a:cubicBezTo>
                    <a:pt x="119632" y="0"/>
                    <a:pt x="143682" y="9962"/>
                    <a:pt x="161414" y="27694"/>
                  </a:cubicBezTo>
                  <a:cubicBezTo>
                    <a:pt x="179147" y="45427"/>
                    <a:pt x="189109" y="69477"/>
                    <a:pt x="189109" y="94554"/>
                  </a:cubicBezTo>
                  <a:lnTo>
                    <a:pt x="189109" y="96125"/>
                  </a:lnTo>
                  <a:cubicBezTo>
                    <a:pt x="189109" y="148346"/>
                    <a:pt x="146775" y="190680"/>
                    <a:pt x="94554" y="190680"/>
                  </a:cubicBezTo>
                  <a:lnTo>
                    <a:pt x="94554" y="190680"/>
                  </a:lnTo>
                  <a:cubicBezTo>
                    <a:pt x="69477" y="190680"/>
                    <a:pt x="45427" y="180718"/>
                    <a:pt x="27694" y="162985"/>
                  </a:cubicBezTo>
                  <a:cubicBezTo>
                    <a:pt x="9962" y="145253"/>
                    <a:pt x="0" y="121203"/>
                    <a:pt x="0" y="96125"/>
                  </a:cubicBezTo>
                  <a:lnTo>
                    <a:pt x="0" y="94554"/>
                  </a:lnTo>
                  <a:cubicBezTo>
                    <a:pt x="0" y="42333"/>
                    <a:pt x="42333" y="0"/>
                    <a:pt x="945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89109" cy="228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476146" y="1486717"/>
            <a:ext cx="4767627" cy="7515495"/>
            <a:chOff x="0" y="0"/>
            <a:chExt cx="376701" cy="5938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6701" cy="593817"/>
            </a:xfrm>
            <a:custGeom>
              <a:avLst/>
              <a:gdLst/>
              <a:ahLst/>
              <a:cxnLst/>
              <a:rect l="l" t="t" r="r" b="b"/>
              <a:pathLst>
                <a:path w="376701" h="593817">
                  <a:moveTo>
                    <a:pt x="47092" y="0"/>
                  </a:moveTo>
                  <a:lnTo>
                    <a:pt x="329610" y="0"/>
                  </a:lnTo>
                  <a:cubicBezTo>
                    <a:pt x="342099" y="0"/>
                    <a:pt x="354077" y="4961"/>
                    <a:pt x="362909" y="13793"/>
                  </a:cubicBezTo>
                  <a:cubicBezTo>
                    <a:pt x="371740" y="22624"/>
                    <a:pt x="376701" y="34602"/>
                    <a:pt x="376701" y="47092"/>
                  </a:cubicBezTo>
                  <a:lnTo>
                    <a:pt x="376701" y="546725"/>
                  </a:lnTo>
                  <a:cubicBezTo>
                    <a:pt x="376701" y="572733"/>
                    <a:pt x="355618" y="593817"/>
                    <a:pt x="329610" y="593817"/>
                  </a:cubicBezTo>
                  <a:lnTo>
                    <a:pt x="47092" y="593817"/>
                  </a:lnTo>
                  <a:cubicBezTo>
                    <a:pt x="34602" y="593817"/>
                    <a:pt x="22624" y="588855"/>
                    <a:pt x="13793" y="580024"/>
                  </a:cubicBezTo>
                  <a:cubicBezTo>
                    <a:pt x="4961" y="571193"/>
                    <a:pt x="0" y="559215"/>
                    <a:pt x="0" y="546725"/>
                  </a:cubicBezTo>
                  <a:lnTo>
                    <a:pt x="0" y="47092"/>
                  </a:lnTo>
                  <a:cubicBezTo>
                    <a:pt x="0" y="34602"/>
                    <a:pt x="4961" y="22624"/>
                    <a:pt x="13793" y="13793"/>
                  </a:cubicBezTo>
                  <a:cubicBezTo>
                    <a:pt x="22624" y="4961"/>
                    <a:pt x="34602" y="0"/>
                    <a:pt x="47092" y="0"/>
                  </a:cubicBezTo>
                  <a:close/>
                </a:path>
              </a:pathLst>
            </a:custGeom>
            <a:blipFill>
              <a:blip r:embed="rId1"/>
              <a:stretch>
                <a:fillRect t="-247" b="-24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12102887" y="6104869"/>
            <a:ext cx="273139" cy="273139"/>
          </a:xfrm>
          <a:custGeom>
            <a:avLst/>
            <a:gdLst/>
            <a:ahLst/>
            <a:cxnLst/>
            <a:rect l="l" t="t" r="r" b="b"/>
            <a:pathLst>
              <a:path w="273139" h="273139">
                <a:moveTo>
                  <a:pt x="0" y="0"/>
                </a:moveTo>
                <a:lnTo>
                  <a:pt x="273138" y="0"/>
                </a:lnTo>
                <a:lnTo>
                  <a:pt x="273138" y="273138"/>
                </a:lnTo>
                <a:lnTo>
                  <a:pt x="0" y="273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2102887" y="2085183"/>
            <a:ext cx="273139" cy="273139"/>
          </a:xfrm>
          <a:custGeom>
            <a:avLst/>
            <a:gdLst/>
            <a:ahLst/>
            <a:cxnLst/>
            <a:rect l="l" t="t" r="r" b="b"/>
            <a:pathLst>
              <a:path w="273139" h="273139">
                <a:moveTo>
                  <a:pt x="0" y="0"/>
                </a:moveTo>
                <a:lnTo>
                  <a:pt x="273138" y="0"/>
                </a:lnTo>
                <a:lnTo>
                  <a:pt x="273138" y="273139"/>
                </a:lnTo>
                <a:lnTo>
                  <a:pt x="0" y="273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65173" y="9258300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4" y="0"/>
                </a:lnTo>
                <a:lnTo>
                  <a:pt x="1727054" y="1751131"/>
                </a:lnTo>
                <a:lnTo>
                  <a:pt x="0" y="1751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547913" y="1819904"/>
            <a:ext cx="5702309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Database</a:t>
            </a:r>
            <a:endParaRPr lang="en-US" sz="6605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47913" y="2824402"/>
            <a:ext cx="5702309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Design &amp;</a:t>
            </a:r>
            <a:endParaRPr lang="en-US" sz="6605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547913" y="3823417"/>
            <a:ext cx="5702309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Schema</a:t>
            </a:r>
            <a:endParaRPr lang="en-US" sz="6605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47913" y="5910776"/>
            <a:ext cx="5103228" cy="173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05"/>
              </a:lnSpc>
              <a:spcBef>
                <a:spcPct val="0"/>
              </a:spcBef>
            </a:pPr>
            <a:r>
              <a:rPr lang="en-US" sz="1430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Core tables: Users, Patient Profiles, Doctors, Departments, Appointments, Queue Management, Beds &amp; Wards. Extended: Medical Records, Prescriptions, Lab Orders, Bills, Payments, Pharmacy Orders, ICU Updates, Notifications, Audit Logs. Enforced with primary/foreign keys, ON DELETE constraints, NOT NULL, UNIQUE and CHECK rules.</a:t>
            </a:r>
            <a:endParaRPr lang="en-US" sz="1430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294048" y="1783559"/>
            <a:ext cx="1608061" cy="87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00477B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Schema</a:t>
            </a:r>
            <a:endParaRPr lang="en-US" sz="2430" b="1">
              <a:solidFill>
                <a:srgbClr val="00477B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00477B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Integrity</a:t>
            </a:r>
            <a:endParaRPr lang="en-US" sz="2430" b="1">
              <a:solidFill>
                <a:srgbClr val="00477B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294048" y="5803245"/>
            <a:ext cx="1608061" cy="87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00477B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Data</a:t>
            </a:r>
            <a:endParaRPr lang="en-US" sz="2430" b="1">
              <a:solidFill>
                <a:srgbClr val="00477B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00477B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Security</a:t>
            </a:r>
            <a:endParaRPr lang="en-US" sz="2430" b="1">
              <a:solidFill>
                <a:srgbClr val="00477B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294048" y="3089801"/>
            <a:ext cx="3304419" cy="131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5"/>
              </a:lnSpc>
              <a:spcBef>
                <a:spcPct val="0"/>
              </a:spcBef>
            </a:pPr>
            <a:r>
              <a:rPr lang="en-US" sz="124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Primary &amp; foreign keys enforced across all tables. ON DELETE constraints maintain referential integrity. NOT NULL, UNIQUE and CHECK constraints ensure data validity. Indexes applied for query performance optimization.</a:t>
            </a:r>
            <a:endParaRPr lang="en-US" sz="124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294048" y="7109487"/>
            <a:ext cx="3304419" cy="131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5"/>
              </a:lnSpc>
              <a:spcBef>
                <a:spcPct val="0"/>
              </a:spcBef>
            </a:pPr>
            <a:r>
              <a:rPr lang="en-US" sz="124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PDO prepared statements prevent SQL injection across all data access layers. Parameterized queries used throughout the PHP 8 application. Audit logs track all critical data changes for compliance and traceability.</a:t>
            </a:r>
            <a:endParaRPr lang="en-US" sz="124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691152"/>
            <a:ext cx="18288000" cy="6595848"/>
            <a:chOff x="0" y="0"/>
            <a:chExt cx="1241078" cy="4476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1078" cy="447614"/>
            </a:xfrm>
            <a:custGeom>
              <a:avLst/>
              <a:gdLst/>
              <a:ahLst/>
              <a:cxnLst/>
              <a:rect l="l" t="t" r="r" b="b"/>
              <a:pathLst>
                <a:path w="1241078" h="447614">
                  <a:moveTo>
                    <a:pt x="0" y="0"/>
                  </a:moveTo>
                  <a:lnTo>
                    <a:pt x="1241078" y="0"/>
                  </a:lnTo>
                  <a:lnTo>
                    <a:pt x="1241078" y="447614"/>
                  </a:lnTo>
                  <a:lnTo>
                    <a:pt x="0" y="447614"/>
                  </a:ln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41078" cy="485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47913" y="4951676"/>
            <a:ext cx="4541511" cy="4033762"/>
            <a:chOff x="0" y="0"/>
            <a:chExt cx="1196118" cy="10623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6118" cy="1062390"/>
            </a:xfrm>
            <a:custGeom>
              <a:avLst/>
              <a:gdLst/>
              <a:ahLst/>
              <a:cxnLst/>
              <a:rect l="l" t="t" r="r" b="b"/>
              <a:pathLst>
                <a:path w="1196118" h="1062390">
                  <a:moveTo>
                    <a:pt x="52846" y="0"/>
                  </a:moveTo>
                  <a:lnTo>
                    <a:pt x="1143273" y="0"/>
                  </a:lnTo>
                  <a:cubicBezTo>
                    <a:pt x="1172458" y="0"/>
                    <a:pt x="1196118" y="23660"/>
                    <a:pt x="1196118" y="52846"/>
                  </a:cubicBezTo>
                  <a:lnTo>
                    <a:pt x="1196118" y="1009544"/>
                  </a:lnTo>
                  <a:cubicBezTo>
                    <a:pt x="1196118" y="1023560"/>
                    <a:pt x="1190551" y="1037001"/>
                    <a:pt x="1180640" y="1046912"/>
                  </a:cubicBezTo>
                  <a:cubicBezTo>
                    <a:pt x="1170730" y="1056822"/>
                    <a:pt x="1157288" y="1062390"/>
                    <a:pt x="1143273" y="1062390"/>
                  </a:cubicBezTo>
                  <a:lnTo>
                    <a:pt x="52846" y="1062390"/>
                  </a:lnTo>
                  <a:cubicBezTo>
                    <a:pt x="23660" y="1062390"/>
                    <a:pt x="0" y="1038730"/>
                    <a:pt x="0" y="1009544"/>
                  </a:cubicBezTo>
                  <a:lnTo>
                    <a:pt x="0" y="52846"/>
                  </a:lnTo>
                  <a:cubicBezTo>
                    <a:pt x="0" y="23660"/>
                    <a:pt x="23660" y="0"/>
                    <a:pt x="52846" y="0"/>
                  </a:cubicBezTo>
                  <a:close/>
                </a:path>
              </a:pathLst>
            </a:custGeom>
            <a:solidFill>
              <a:srgbClr val="FAFAF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6118" cy="1100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50688" y="4388602"/>
            <a:ext cx="1135962" cy="1126149"/>
            <a:chOff x="0" y="0"/>
            <a:chExt cx="299183" cy="2965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9183" cy="296599"/>
            </a:xfrm>
            <a:custGeom>
              <a:avLst/>
              <a:gdLst/>
              <a:ahLst/>
              <a:cxnLst/>
              <a:rect l="l" t="t" r="r" b="b"/>
              <a:pathLst>
                <a:path w="299183" h="296599">
                  <a:moveTo>
                    <a:pt x="136306" y="0"/>
                  </a:moveTo>
                  <a:lnTo>
                    <a:pt x="162877" y="0"/>
                  </a:lnTo>
                  <a:cubicBezTo>
                    <a:pt x="238157" y="0"/>
                    <a:pt x="299183" y="61026"/>
                    <a:pt x="299183" y="136306"/>
                  </a:cubicBezTo>
                  <a:lnTo>
                    <a:pt x="299183" y="160293"/>
                  </a:lnTo>
                  <a:cubicBezTo>
                    <a:pt x="299183" y="196444"/>
                    <a:pt x="284823" y="231113"/>
                    <a:pt x="259260" y="256676"/>
                  </a:cubicBezTo>
                  <a:cubicBezTo>
                    <a:pt x="233698" y="282238"/>
                    <a:pt x="199028" y="296599"/>
                    <a:pt x="162877" y="296599"/>
                  </a:cubicBezTo>
                  <a:lnTo>
                    <a:pt x="136306" y="296599"/>
                  </a:lnTo>
                  <a:cubicBezTo>
                    <a:pt x="100155" y="296599"/>
                    <a:pt x="65485" y="282238"/>
                    <a:pt x="39923" y="256676"/>
                  </a:cubicBezTo>
                  <a:cubicBezTo>
                    <a:pt x="14361" y="231113"/>
                    <a:pt x="0" y="196444"/>
                    <a:pt x="0" y="160293"/>
                  </a:cubicBezTo>
                  <a:lnTo>
                    <a:pt x="0" y="136306"/>
                  </a:lnTo>
                  <a:cubicBezTo>
                    <a:pt x="0" y="100155"/>
                    <a:pt x="14361" y="65485"/>
                    <a:pt x="39923" y="39923"/>
                  </a:cubicBezTo>
                  <a:cubicBezTo>
                    <a:pt x="65485" y="14361"/>
                    <a:pt x="100155" y="0"/>
                    <a:pt x="1363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99183" cy="334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73244" y="4951676"/>
            <a:ext cx="4541511" cy="4033762"/>
            <a:chOff x="0" y="0"/>
            <a:chExt cx="1196118" cy="10623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96118" cy="1062390"/>
            </a:xfrm>
            <a:custGeom>
              <a:avLst/>
              <a:gdLst/>
              <a:ahLst/>
              <a:cxnLst/>
              <a:rect l="l" t="t" r="r" b="b"/>
              <a:pathLst>
                <a:path w="1196118" h="1062390">
                  <a:moveTo>
                    <a:pt x="52846" y="0"/>
                  </a:moveTo>
                  <a:lnTo>
                    <a:pt x="1143273" y="0"/>
                  </a:lnTo>
                  <a:cubicBezTo>
                    <a:pt x="1172458" y="0"/>
                    <a:pt x="1196118" y="23660"/>
                    <a:pt x="1196118" y="52846"/>
                  </a:cubicBezTo>
                  <a:lnTo>
                    <a:pt x="1196118" y="1009544"/>
                  </a:lnTo>
                  <a:cubicBezTo>
                    <a:pt x="1196118" y="1023560"/>
                    <a:pt x="1190551" y="1037001"/>
                    <a:pt x="1180640" y="1046912"/>
                  </a:cubicBezTo>
                  <a:cubicBezTo>
                    <a:pt x="1170730" y="1056822"/>
                    <a:pt x="1157288" y="1062390"/>
                    <a:pt x="1143273" y="1062390"/>
                  </a:cubicBezTo>
                  <a:lnTo>
                    <a:pt x="52846" y="1062390"/>
                  </a:lnTo>
                  <a:cubicBezTo>
                    <a:pt x="23660" y="1062390"/>
                    <a:pt x="0" y="1038730"/>
                    <a:pt x="0" y="1009544"/>
                  </a:cubicBezTo>
                  <a:lnTo>
                    <a:pt x="0" y="52846"/>
                  </a:lnTo>
                  <a:cubicBezTo>
                    <a:pt x="0" y="23660"/>
                    <a:pt x="23660" y="0"/>
                    <a:pt x="52846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96118" cy="1100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98575" y="4951676"/>
            <a:ext cx="4541511" cy="4033762"/>
            <a:chOff x="0" y="0"/>
            <a:chExt cx="1196118" cy="10623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96118" cy="1062390"/>
            </a:xfrm>
            <a:custGeom>
              <a:avLst/>
              <a:gdLst/>
              <a:ahLst/>
              <a:cxnLst/>
              <a:rect l="l" t="t" r="r" b="b"/>
              <a:pathLst>
                <a:path w="1196118" h="1062390">
                  <a:moveTo>
                    <a:pt x="52846" y="0"/>
                  </a:moveTo>
                  <a:lnTo>
                    <a:pt x="1143273" y="0"/>
                  </a:lnTo>
                  <a:cubicBezTo>
                    <a:pt x="1172458" y="0"/>
                    <a:pt x="1196118" y="23660"/>
                    <a:pt x="1196118" y="52846"/>
                  </a:cubicBezTo>
                  <a:lnTo>
                    <a:pt x="1196118" y="1009544"/>
                  </a:lnTo>
                  <a:cubicBezTo>
                    <a:pt x="1196118" y="1023560"/>
                    <a:pt x="1190551" y="1037001"/>
                    <a:pt x="1180640" y="1046912"/>
                  </a:cubicBezTo>
                  <a:cubicBezTo>
                    <a:pt x="1170730" y="1056822"/>
                    <a:pt x="1157288" y="1062390"/>
                    <a:pt x="1143273" y="1062390"/>
                  </a:cubicBezTo>
                  <a:lnTo>
                    <a:pt x="52846" y="1062390"/>
                  </a:lnTo>
                  <a:cubicBezTo>
                    <a:pt x="23660" y="1062390"/>
                    <a:pt x="0" y="1038730"/>
                    <a:pt x="0" y="1009544"/>
                  </a:cubicBezTo>
                  <a:lnTo>
                    <a:pt x="0" y="52846"/>
                  </a:lnTo>
                  <a:cubicBezTo>
                    <a:pt x="0" y="23660"/>
                    <a:pt x="23660" y="0"/>
                    <a:pt x="52846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96118" cy="1100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576019" y="4388602"/>
            <a:ext cx="1135962" cy="1126149"/>
            <a:chOff x="0" y="0"/>
            <a:chExt cx="299183" cy="2965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9183" cy="296599"/>
            </a:xfrm>
            <a:custGeom>
              <a:avLst/>
              <a:gdLst/>
              <a:ahLst/>
              <a:cxnLst/>
              <a:rect l="l" t="t" r="r" b="b"/>
              <a:pathLst>
                <a:path w="299183" h="296599">
                  <a:moveTo>
                    <a:pt x="136306" y="0"/>
                  </a:moveTo>
                  <a:lnTo>
                    <a:pt x="162877" y="0"/>
                  </a:lnTo>
                  <a:cubicBezTo>
                    <a:pt x="238157" y="0"/>
                    <a:pt x="299183" y="61026"/>
                    <a:pt x="299183" y="136306"/>
                  </a:cubicBezTo>
                  <a:lnTo>
                    <a:pt x="299183" y="160293"/>
                  </a:lnTo>
                  <a:cubicBezTo>
                    <a:pt x="299183" y="196444"/>
                    <a:pt x="284823" y="231113"/>
                    <a:pt x="259260" y="256676"/>
                  </a:cubicBezTo>
                  <a:cubicBezTo>
                    <a:pt x="233698" y="282238"/>
                    <a:pt x="199028" y="296599"/>
                    <a:pt x="162877" y="296599"/>
                  </a:cubicBezTo>
                  <a:lnTo>
                    <a:pt x="136306" y="296599"/>
                  </a:lnTo>
                  <a:cubicBezTo>
                    <a:pt x="100155" y="296599"/>
                    <a:pt x="65485" y="282238"/>
                    <a:pt x="39923" y="256676"/>
                  </a:cubicBezTo>
                  <a:cubicBezTo>
                    <a:pt x="14361" y="231113"/>
                    <a:pt x="0" y="196444"/>
                    <a:pt x="0" y="160293"/>
                  </a:cubicBezTo>
                  <a:lnTo>
                    <a:pt x="0" y="136306"/>
                  </a:lnTo>
                  <a:cubicBezTo>
                    <a:pt x="0" y="100155"/>
                    <a:pt x="14361" y="65485"/>
                    <a:pt x="39923" y="39923"/>
                  </a:cubicBezTo>
                  <a:cubicBezTo>
                    <a:pt x="65485" y="14361"/>
                    <a:pt x="100155" y="0"/>
                    <a:pt x="1363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99183" cy="334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901350" y="4388602"/>
            <a:ext cx="1135962" cy="1126149"/>
            <a:chOff x="0" y="0"/>
            <a:chExt cx="299183" cy="29659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9183" cy="296599"/>
            </a:xfrm>
            <a:custGeom>
              <a:avLst/>
              <a:gdLst/>
              <a:ahLst/>
              <a:cxnLst/>
              <a:rect l="l" t="t" r="r" b="b"/>
              <a:pathLst>
                <a:path w="299183" h="296599">
                  <a:moveTo>
                    <a:pt x="136306" y="0"/>
                  </a:moveTo>
                  <a:lnTo>
                    <a:pt x="162877" y="0"/>
                  </a:lnTo>
                  <a:cubicBezTo>
                    <a:pt x="238157" y="0"/>
                    <a:pt x="299183" y="61026"/>
                    <a:pt x="299183" y="136306"/>
                  </a:cubicBezTo>
                  <a:lnTo>
                    <a:pt x="299183" y="160293"/>
                  </a:lnTo>
                  <a:cubicBezTo>
                    <a:pt x="299183" y="196444"/>
                    <a:pt x="284823" y="231113"/>
                    <a:pt x="259260" y="256676"/>
                  </a:cubicBezTo>
                  <a:cubicBezTo>
                    <a:pt x="233698" y="282238"/>
                    <a:pt x="199028" y="296599"/>
                    <a:pt x="162877" y="296599"/>
                  </a:cubicBezTo>
                  <a:lnTo>
                    <a:pt x="136306" y="296599"/>
                  </a:lnTo>
                  <a:cubicBezTo>
                    <a:pt x="100155" y="296599"/>
                    <a:pt x="65485" y="282238"/>
                    <a:pt x="39923" y="256676"/>
                  </a:cubicBezTo>
                  <a:cubicBezTo>
                    <a:pt x="14361" y="231113"/>
                    <a:pt x="0" y="196444"/>
                    <a:pt x="0" y="160293"/>
                  </a:cubicBezTo>
                  <a:lnTo>
                    <a:pt x="0" y="136306"/>
                  </a:lnTo>
                  <a:cubicBezTo>
                    <a:pt x="0" y="100155"/>
                    <a:pt x="14361" y="65485"/>
                    <a:pt x="39923" y="39923"/>
                  </a:cubicBezTo>
                  <a:cubicBezTo>
                    <a:pt x="65485" y="14361"/>
                    <a:pt x="100155" y="0"/>
                    <a:pt x="1363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99183" cy="334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23" name="Freeform 23"/>
          <p:cNvSpPr/>
          <p:nvPr/>
        </p:nvSpPr>
        <p:spPr>
          <a:xfrm>
            <a:off x="3529358" y="4672921"/>
            <a:ext cx="571775" cy="694884"/>
          </a:xfrm>
          <a:custGeom>
            <a:avLst/>
            <a:gdLst/>
            <a:ahLst/>
            <a:cxnLst/>
            <a:rect l="l" t="t" r="r" b="b"/>
            <a:pathLst>
              <a:path w="571775" h="694884">
                <a:moveTo>
                  <a:pt x="0" y="0"/>
                </a:moveTo>
                <a:lnTo>
                  <a:pt x="571775" y="0"/>
                </a:lnTo>
                <a:lnTo>
                  <a:pt x="571775" y="694884"/>
                </a:lnTo>
                <a:lnTo>
                  <a:pt x="0" y="69488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8850106" y="4608551"/>
            <a:ext cx="614951" cy="666417"/>
          </a:xfrm>
          <a:custGeom>
            <a:avLst/>
            <a:gdLst/>
            <a:ahLst/>
            <a:cxnLst/>
            <a:rect l="l" t="t" r="r" b="b"/>
            <a:pathLst>
              <a:path w="614951" h="666417">
                <a:moveTo>
                  <a:pt x="0" y="0"/>
                </a:moveTo>
                <a:lnTo>
                  <a:pt x="614951" y="0"/>
                </a:lnTo>
                <a:lnTo>
                  <a:pt x="614951" y="666417"/>
                </a:lnTo>
                <a:lnTo>
                  <a:pt x="0" y="666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4197161" y="4530765"/>
            <a:ext cx="544941" cy="861596"/>
          </a:xfrm>
          <a:custGeom>
            <a:avLst/>
            <a:gdLst/>
            <a:ahLst/>
            <a:cxnLst/>
            <a:rect l="l" t="t" r="r" b="b"/>
            <a:pathLst>
              <a:path w="544941" h="861596">
                <a:moveTo>
                  <a:pt x="0" y="0"/>
                </a:moveTo>
                <a:lnTo>
                  <a:pt x="544941" y="0"/>
                </a:lnTo>
                <a:lnTo>
                  <a:pt x="544941" y="861596"/>
                </a:lnTo>
                <a:lnTo>
                  <a:pt x="0" y="861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4622699" y="904875"/>
            <a:ext cx="9042601" cy="112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Security &amp;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809544" y="1903890"/>
            <a:ext cx="8668913" cy="112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Reliability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014638" y="5887388"/>
            <a:ext cx="1608061" cy="836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10"/>
              </a:lnSpc>
              <a:spcBef>
                <a:spcPct val="0"/>
              </a:spcBef>
            </a:pPr>
            <a:r>
              <a:rPr lang="en-US" sz="1575" b="1">
                <a:solidFill>
                  <a:srgbClr val="00477B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Authentication &amp; Access Control</a:t>
            </a:r>
            <a:endParaRPr lang="en-US" sz="1575" b="1">
              <a:solidFill>
                <a:srgbClr val="00477B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936655" y="5887388"/>
            <a:ext cx="2414690" cy="56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10"/>
              </a:lnSpc>
              <a:spcBef>
                <a:spcPct val="0"/>
              </a:spcBef>
            </a:pPr>
            <a:r>
              <a:rPr lang="en-US" sz="157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Data Protection &amp; Injection Defence</a:t>
            </a:r>
            <a:endParaRPr lang="en-US" sz="157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166459" y="7209612"/>
            <a:ext cx="3304419" cy="1203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20"/>
              </a:lnSpc>
              <a:spcBef>
                <a:spcPct val="0"/>
              </a:spcBef>
            </a:pPr>
            <a:r>
              <a:rPr lang="en-US" sz="1375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Password hashing with bcrypt, session timeout and regeneration policies, role-based access control, and two-factor authentication to ensure only authorised users access the system.</a:t>
            </a:r>
            <a:endParaRPr lang="en-US" sz="1375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491790" y="7209612"/>
            <a:ext cx="3304419" cy="1203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20"/>
              </a:lnSpc>
              <a:spcBef>
                <a:spcPct val="0"/>
              </a:spcBef>
            </a:pPr>
            <a:r>
              <a:rPr lang="en-US" sz="1375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PDO prepared statements to prevent SQL injection, HTTPS/TLS encryption, environment secrets management, and audit logging to maintain data integrity and full traceability.</a:t>
            </a:r>
            <a:endParaRPr lang="en-US" sz="1375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331523" y="5887388"/>
            <a:ext cx="2275616" cy="56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10"/>
              </a:lnSpc>
            </a:pPr>
            <a:r>
              <a:rPr lang="en-US" sz="157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System Reliability &amp; Monitoring</a:t>
            </a:r>
            <a:endParaRPr lang="en-US" sz="157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814931" y="7209612"/>
            <a:ext cx="3308801" cy="1203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20"/>
              </a:lnSpc>
              <a:spcBef>
                <a:spcPct val="0"/>
              </a:spcBef>
            </a:pPr>
            <a:r>
              <a:rPr lang="en-US" sz="1375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Automated backups, server monitoring, malware scanning, and penetration testing ensure continuous uptime, early threat detection, and resilient platform operations.</a:t>
            </a:r>
            <a:endParaRPr lang="en-US" sz="1375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16263356" y="276584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3" y="0"/>
                </a:lnTo>
                <a:lnTo>
                  <a:pt x="1727053" y="1751131"/>
                </a:lnTo>
                <a:lnTo>
                  <a:pt x="0" y="1751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44400" y="6905524"/>
            <a:ext cx="9588400" cy="3896044"/>
            <a:chOff x="0" y="0"/>
            <a:chExt cx="718480" cy="2919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8480" cy="291939"/>
            </a:xfrm>
            <a:custGeom>
              <a:avLst/>
              <a:gdLst/>
              <a:ahLst/>
              <a:cxnLst/>
              <a:rect l="l" t="t" r="r" b="b"/>
              <a:pathLst>
                <a:path w="718480" h="291939">
                  <a:moveTo>
                    <a:pt x="24223" y="0"/>
                  </a:moveTo>
                  <a:lnTo>
                    <a:pt x="694257" y="0"/>
                  </a:lnTo>
                  <a:cubicBezTo>
                    <a:pt x="700682" y="0"/>
                    <a:pt x="706843" y="2552"/>
                    <a:pt x="711386" y="7095"/>
                  </a:cubicBezTo>
                  <a:cubicBezTo>
                    <a:pt x="715928" y="11637"/>
                    <a:pt x="718480" y="17798"/>
                    <a:pt x="718480" y="24223"/>
                  </a:cubicBezTo>
                  <a:lnTo>
                    <a:pt x="718480" y="267716"/>
                  </a:lnTo>
                  <a:cubicBezTo>
                    <a:pt x="718480" y="281094"/>
                    <a:pt x="707635" y="291939"/>
                    <a:pt x="694257" y="291939"/>
                  </a:cubicBezTo>
                  <a:lnTo>
                    <a:pt x="24223" y="291939"/>
                  </a:lnTo>
                  <a:cubicBezTo>
                    <a:pt x="10845" y="291939"/>
                    <a:pt x="0" y="281094"/>
                    <a:pt x="0" y="267716"/>
                  </a:cubicBezTo>
                  <a:lnTo>
                    <a:pt x="0" y="24223"/>
                  </a:lnTo>
                  <a:cubicBezTo>
                    <a:pt x="0" y="10845"/>
                    <a:pt x="10845" y="0"/>
                    <a:pt x="24223" y="0"/>
                  </a:cubicBezTo>
                  <a:close/>
                </a:path>
              </a:pathLst>
            </a:custGeom>
            <a:blipFill>
              <a:blip r:embed="rId1"/>
              <a:stretch>
                <a:fillRect l="-9" r="-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671331" y="1039619"/>
            <a:ext cx="792649" cy="785802"/>
            <a:chOff x="0" y="0"/>
            <a:chExt cx="208764" cy="206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764" cy="206960"/>
            </a:xfrm>
            <a:custGeom>
              <a:avLst/>
              <a:gdLst/>
              <a:ahLst/>
              <a:cxnLst/>
              <a:rect l="l" t="t" r="r" b="b"/>
              <a:pathLst>
                <a:path w="208764" h="206960">
                  <a:moveTo>
                    <a:pt x="103480" y="0"/>
                  </a:moveTo>
                  <a:lnTo>
                    <a:pt x="105283" y="0"/>
                  </a:lnTo>
                  <a:cubicBezTo>
                    <a:pt x="162434" y="0"/>
                    <a:pt x="208764" y="46330"/>
                    <a:pt x="208764" y="103480"/>
                  </a:cubicBezTo>
                  <a:lnTo>
                    <a:pt x="208764" y="103480"/>
                  </a:lnTo>
                  <a:cubicBezTo>
                    <a:pt x="208764" y="160630"/>
                    <a:pt x="162434" y="206960"/>
                    <a:pt x="105283" y="206960"/>
                  </a:cubicBezTo>
                  <a:lnTo>
                    <a:pt x="103480" y="206960"/>
                  </a:lnTo>
                  <a:cubicBezTo>
                    <a:pt x="46330" y="206960"/>
                    <a:pt x="0" y="160630"/>
                    <a:pt x="0" y="103480"/>
                  </a:cubicBezTo>
                  <a:lnTo>
                    <a:pt x="0" y="103480"/>
                  </a:lnTo>
                  <a:cubicBezTo>
                    <a:pt x="0" y="46330"/>
                    <a:pt x="46330" y="0"/>
                    <a:pt x="1034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8764" cy="245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671331" y="4072163"/>
            <a:ext cx="792649" cy="785802"/>
            <a:chOff x="0" y="0"/>
            <a:chExt cx="208764" cy="2069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8764" cy="206960"/>
            </a:xfrm>
            <a:custGeom>
              <a:avLst/>
              <a:gdLst/>
              <a:ahLst/>
              <a:cxnLst/>
              <a:rect l="l" t="t" r="r" b="b"/>
              <a:pathLst>
                <a:path w="208764" h="206960">
                  <a:moveTo>
                    <a:pt x="103480" y="0"/>
                  </a:moveTo>
                  <a:lnTo>
                    <a:pt x="105283" y="0"/>
                  </a:lnTo>
                  <a:cubicBezTo>
                    <a:pt x="162434" y="0"/>
                    <a:pt x="208764" y="46330"/>
                    <a:pt x="208764" y="103480"/>
                  </a:cubicBezTo>
                  <a:lnTo>
                    <a:pt x="208764" y="103480"/>
                  </a:lnTo>
                  <a:cubicBezTo>
                    <a:pt x="208764" y="160630"/>
                    <a:pt x="162434" y="206960"/>
                    <a:pt x="105283" y="206960"/>
                  </a:cubicBezTo>
                  <a:lnTo>
                    <a:pt x="103480" y="206960"/>
                  </a:lnTo>
                  <a:cubicBezTo>
                    <a:pt x="46330" y="206960"/>
                    <a:pt x="0" y="160630"/>
                    <a:pt x="0" y="103480"/>
                  </a:cubicBezTo>
                  <a:lnTo>
                    <a:pt x="0" y="103480"/>
                  </a:lnTo>
                  <a:cubicBezTo>
                    <a:pt x="0" y="46330"/>
                    <a:pt x="46330" y="0"/>
                    <a:pt x="1034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08764" cy="245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671331" y="7104706"/>
            <a:ext cx="792649" cy="785802"/>
            <a:chOff x="0" y="0"/>
            <a:chExt cx="208764" cy="2069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8764" cy="206960"/>
            </a:xfrm>
            <a:custGeom>
              <a:avLst/>
              <a:gdLst/>
              <a:ahLst/>
              <a:cxnLst/>
              <a:rect l="l" t="t" r="r" b="b"/>
              <a:pathLst>
                <a:path w="208764" h="206960">
                  <a:moveTo>
                    <a:pt x="103480" y="0"/>
                  </a:moveTo>
                  <a:lnTo>
                    <a:pt x="105283" y="0"/>
                  </a:lnTo>
                  <a:cubicBezTo>
                    <a:pt x="162434" y="0"/>
                    <a:pt x="208764" y="46330"/>
                    <a:pt x="208764" y="103480"/>
                  </a:cubicBezTo>
                  <a:lnTo>
                    <a:pt x="208764" y="103480"/>
                  </a:lnTo>
                  <a:cubicBezTo>
                    <a:pt x="208764" y="160630"/>
                    <a:pt x="162434" y="206960"/>
                    <a:pt x="105283" y="206960"/>
                  </a:cubicBezTo>
                  <a:lnTo>
                    <a:pt x="103480" y="206960"/>
                  </a:lnTo>
                  <a:cubicBezTo>
                    <a:pt x="46330" y="206960"/>
                    <a:pt x="0" y="160630"/>
                    <a:pt x="0" y="103480"/>
                  </a:cubicBezTo>
                  <a:lnTo>
                    <a:pt x="0" y="103480"/>
                  </a:lnTo>
                  <a:cubicBezTo>
                    <a:pt x="0" y="46330"/>
                    <a:pt x="46330" y="0"/>
                    <a:pt x="1034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08764" cy="245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917474" y="1272662"/>
            <a:ext cx="300363" cy="310052"/>
          </a:xfrm>
          <a:custGeom>
            <a:avLst/>
            <a:gdLst/>
            <a:ahLst/>
            <a:cxnLst/>
            <a:rect l="l" t="t" r="r" b="b"/>
            <a:pathLst>
              <a:path w="300363" h="310052">
                <a:moveTo>
                  <a:pt x="0" y="0"/>
                </a:moveTo>
                <a:lnTo>
                  <a:pt x="300363" y="0"/>
                </a:lnTo>
                <a:lnTo>
                  <a:pt x="300363" y="310052"/>
                </a:lnTo>
                <a:lnTo>
                  <a:pt x="0" y="310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917474" y="4305205"/>
            <a:ext cx="300363" cy="310052"/>
          </a:xfrm>
          <a:custGeom>
            <a:avLst/>
            <a:gdLst/>
            <a:ahLst/>
            <a:cxnLst/>
            <a:rect l="l" t="t" r="r" b="b"/>
            <a:pathLst>
              <a:path w="300363" h="310052">
                <a:moveTo>
                  <a:pt x="0" y="0"/>
                </a:moveTo>
                <a:lnTo>
                  <a:pt x="300363" y="0"/>
                </a:lnTo>
                <a:lnTo>
                  <a:pt x="300363" y="310053"/>
                </a:lnTo>
                <a:lnTo>
                  <a:pt x="0" y="310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0917474" y="7337749"/>
            <a:ext cx="300363" cy="310052"/>
          </a:xfrm>
          <a:custGeom>
            <a:avLst/>
            <a:gdLst/>
            <a:ahLst/>
            <a:cxnLst/>
            <a:rect l="l" t="t" r="r" b="b"/>
            <a:pathLst>
              <a:path w="300363" h="310052">
                <a:moveTo>
                  <a:pt x="0" y="0"/>
                </a:moveTo>
                <a:lnTo>
                  <a:pt x="300363" y="0"/>
                </a:lnTo>
                <a:lnTo>
                  <a:pt x="300363" y="310052"/>
                </a:lnTo>
                <a:lnTo>
                  <a:pt x="0" y="310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280473" y="9278084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4" y="0"/>
                </a:lnTo>
                <a:lnTo>
                  <a:pt x="1727054" y="1751132"/>
                </a:lnTo>
                <a:lnTo>
                  <a:pt x="0" y="1751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547913" y="904875"/>
            <a:ext cx="7232671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UI/UX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47913" y="1909373"/>
            <a:ext cx="7232671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Design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47913" y="2908388"/>
            <a:ext cx="7232671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Principles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547913" y="4986222"/>
            <a:ext cx="7596087" cy="918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5"/>
              </a:lnSpc>
              <a:spcBef>
                <a:spcPct val="0"/>
              </a:spcBef>
            </a:pPr>
            <a:r>
              <a:rPr lang="en-US" sz="173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MediFlow+ is built around a clean, accessible clinical interface. Every screen prioritises clarity, consistency, and ease of use — ensuring all user roles can navigate confidently across devices and workflows.</a:t>
            </a:r>
            <a:endParaRPr lang="en-US" sz="173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995444" y="953755"/>
            <a:ext cx="4745158" cy="87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Consistent navigation and responsive layout</a:t>
            </a:r>
            <a:endParaRPr lang="en-US" sz="24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995444" y="3986299"/>
            <a:ext cx="4745158" cy="87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Accessible clinical UI with visual dashboards</a:t>
            </a:r>
            <a:endParaRPr lang="en-US" sz="24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995444" y="2127668"/>
            <a:ext cx="4745158" cy="10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Unified sidebar and header navigation across all dashboards. Fully responsive design supporting desktop, tablet, and mobile clinical workflows seamlessly.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995444" y="5160212"/>
            <a:ext cx="4745158" cy="10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Healthcare imagery and visual data panels enhance comprehension. Accessible colour contrasts and typography ensure usability for all clinical staff and patients.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995444" y="7017587"/>
            <a:ext cx="4745158" cy="87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5"/>
              </a:lnSpc>
              <a:spcBef>
                <a:spcPct val="0"/>
              </a:spcBef>
            </a:pPr>
            <a:r>
              <a:rPr lang="en-US" sz="243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Clear status indicators to guide users</a:t>
            </a:r>
            <a:endParaRPr lang="en-US" sz="243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995444" y="8191500"/>
            <a:ext cx="4745158" cy="10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Real-time status badges, queue indicators, and alert banners guide users through every step — from appointment booking to billing — reducing errors and confusion.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7913" y="4474721"/>
            <a:ext cx="3633266" cy="4189375"/>
            <a:chOff x="0" y="0"/>
            <a:chExt cx="652781" cy="7526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2781" cy="752696"/>
            </a:xfrm>
            <a:custGeom>
              <a:avLst/>
              <a:gdLst/>
              <a:ahLst/>
              <a:cxnLst/>
              <a:rect l="l" t="t" r="r" b="b"/>
              <a:pathLst>
                <a:path w="652781" h="752696">
                  <a:moveTo>
                    <a:pt x="68187" y="0"/>
                  </a:moveTo>
                  <a:lnTo>
                    <a:pt x="584594" y="0"/>
                  </a:lnTo>
                  <a:cubicBezTo>
                    <a:pt x="602678" y="0"/>
                    <a:pt x="620022" y="7184"/>
                    <a:pt x="632809" y="19972"/>
                  </a:cubicBezTo>
                  <a:cubicBezTo>
                    <a:pt x="645597" y="32759"/>
                    <a:pt x="652781" y="50103"/>
                    <a:pt x="652781" y="68187"/>
                  </a:cubicBezTo>
                  <a:lnTo>
                    <a:pt x="652781" y="684509"/>
                  </a:lnTo>
                  <a:cubicBezTo>
                    <a:pt x="652781" y="702593"/>
                    <a:pt x="645597" y="719937"/>
                    <a:pt x="632809" y="732724"/>
                  </a:cubicBezTo>
                  <a:cubicBezTo>
                    <a:pt x="620022" y="745512"/>
                    <a:pt x="602678" y="752696"/>
                    <a:pt x="584594" y="752696"/>
                  </a:cubicBezTo>
                  <a:lnTo>
                    <a:pt x="68187" y="752696"/>
                  </a:lnTo>
                  <a:cubicBezTo>
                    <a:pt x="50103" y="752696"/>
                    <a:pt x="32759" y="745512"/>
                    <a:pt x="19972" y="732724"/>
                  </a:cubicBezTo>
                  <a:cubicBezTo>
                    <a:pt x="7184" y="719937"/>
                    <a:pt x="0" y="702593"/>
                    <a:pt x="0" y="684509"/>
                  </a:cubicBezTo>
                  <a:lnTo>
                    <a:pt x="0" y="68187"/>
                  </a:lnTo>
                  <a:cubicBezTo>
                    <a:pt x="0" y="50103"/>
                    <a:pt x="7184" y="32759"/>
                    <a:pt x="19972" y="19972"/>
                  </a:cubicBezTo>
                  <a:cubicBezTo>
                    <a:pt x="32759" y="7184"/>
                    <a:pt x="50103" y="0"/>
                    <a:pt x="68187" y="0"/>
                  </a:cubicBezTo>
                  <a:close/>
                </a:path>
              </a:pathLst>
            </a:custGeom>
            <a:blipFill>
              <a:blip r:embed="rId1"/>
              <a:stretch>
                <a:fillRect t="-58" b="-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7424473" y="6912965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4" y="0"/>
                </a:lnTo>
                <a:lnTo>
                  <a:pt x="1727054" y="1751131"/>
                </a:lnTo>
                <a:lnTo>
                  <a:pt x="0" y="1751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547913" y="1499079"/>
            <a:ext cx="7842864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Testing &amp;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47913" y="2498094"/>
            <a:ext cx="7842864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00477B"/>
                </a:solidFill>
                <a:latin typeface="Garet Bold"/>
                <a:ea typeface="Garet Bold"/>
                <a:cs typeface="Garet Bold"/>
                <a:sym typeface="Garet Bold"/>
              </a:rPr>
              <a:t>Validation</a:t>
            </a:r>
            <a:endParaRPr lang="en-US" sz="6605" b="1">
              <a:solidFill>
                <a:srgbClr val="00477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312997" y="1836790"/>
            <a:ext cx="5427606" cy="152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5"/>
              </a:lnSpc>
              <a:spcBef>
                <a:spcPct val="0"/>
              </a:spcBef>
            </a:pPr>
            <a:r>
              <a:rPr lang="en-US" sz="173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MediFlow+ undergoes comprehensive multi-layer testing to ensure every module performs reliably, securely, and intuitively across all user roles and device types — backed by structured artefacts and traceability.</a:t>
            </a:r>
            <a:endParaRPr lang="en-US" sz="173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312997" y="4417571"/>
            <a:ext cx="3195783" cy="358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15"/>
              </a:lnSpc>
              <a:spcBef>
                <a:spcPct val="0"/>
              </a:spcBef>
            </a:pPr>
            <a:r>
              <a:rPr lang="en-US" sz="201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Security Testing</a:t>
            </a:r>
            <a:endParaRPr lang="en-US" sz="201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131793" y="4417571"/>
            <a:ext cx="3195783" cy="358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15"/>
              </a:lnSpc>
              <a:spcBef>
                <a:spcPct val="0"/>
              </a:spcBef>
            </a:pPr>
            <a:r>
              <a:rPr lang="en-US" sz="201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Functional &amp; Integration</a:t>
            </a:r>
            <a:endParaRPr lang="en-US" sz="201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312997" y="6974394"/>
            <a:ext cx="3195783" cy="358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15"/>
              </a:lnSpc>
              <a:spcBef>
                <a:spcPct val="0"/>
              </a:spcBef>
            </a:pPr>
            <a:r>
              <a:rPr lang="en-US" sz="201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Artefacts &amp; Traceability</a:t>
            </a:r>
            <a:endParaRPr lang="en-US" sz="201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131793" y="6974394"/>
            <a:ext cx="3195783" cy="358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15"/>
              </a:lnSpc>
              <a:spcBef>
                <a:spcPct val="0"/>
              </a:spcBef>
            </a:pPr>
            <a:r>
              <a:rPr lang="en-US" sz="2010" b="1">
                <a:solidFill>
                  <a:srgbClr val="343434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Usability &amp; Responsive</a:t>
            </a:r>
            <a:endParaRPr lang="en-US" sz="2010" b="1">
              <a:solidFill>
                <a:srgbClr val="343434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312997" y="5040473"/>
            <a:ext cx="4230590" cy="1285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Authentication, session management, and SQL injection prevention tested rigorously. Role-based access control and PDO prepared statements verified against attack vectors.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131793" y="5040473"/>
            <a:ext cx="4230590" cy="1285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Business logic tested per module including appointments, billing, lab orders, and prescriptions. Integration testing validates end-to-end data flows across all system layers.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312997" y="7597296"/>
            <a:ext cx="4230590" cy="10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SRS traceability matrix, user stories, test plans, detailed test cases, UI validations, database integrity checks, and route audits documented as validation artefacts.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131793" y="7597296"/>
            <a:ext cx="4230590" cy="10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Clinical workflows validated for usability across patient, doctor, and admin roles. Responsive testing conducted on desktop, tablet, and mobile environments.</a:t>
            </a:r>
            <a:endParaRPr lang="en-US" sz="150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99261" cy="10287000"/>
            <a:chOff x="0" y="0"/>
            <a:chExt cx="536067" cy="6981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6067" cy="698107"/>
            </a:xfrm>
            <a:custGeom>
              <a:avLst/>
              <a:gdLst/>
              <a:ahLst/>
              <a:cxnLst/>
              <a:rect l="l" t="t" r="r" b="b"/>
              <a:pathLst>
                <a:path w="536067" h="698107">
                  <a:moveTo>
                    <a:pt x="0" y="0"/>
                  </a:moveTo>
                  <a:lnTo>
                    <a:pt x="536067" y="0"/>
                  </a:lnTo>
                  <a:lnTo>
                    <a:pt x="536067" y="698107"/>
                  </a:lnTo>
                  <a:lnTo>
                    <a:pt x="0" y="698107"/>
                  </a:ln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6067" cy="736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757364" y="1385752"/>
            <a:ext cx="4377787" cy="3495810"/>
            <a:chOff x="0" y="0"/>
            <a:chExt cx="1152997" cy="9207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52997" cy="920707"/>
            </a:xfrm>
            <a:custGeom>
              <a:avLst/>
              <a:gdLst/>
              <a:ahLst/>
              <a:cxnLst/>
              <a:rect l="l" t="t" r="r" b="b"/>
              <a:pathLst>
                <a:path w="1152997" h="920707">
                  <a:moveTo>
                    <a:pt x="54822" y="0"/>
                  </a:moveTo>
                  <a:lnTo>
                    <a:pt x="1098175" y="0"/>
                  </a:lnTo>
                  <a:cubicBezTo>
                    <a:pt x="1112715" y="0"/>
                    <a:pt x="1126659" y="5776"/>
                    <a:pt x="1136940" y="16057"/>
                  </a:cubicBezTo>
                  <a:cubicBezTo>
                    <a:pt x="1147221" y="26338"/>
                    <a:pt x="1152997" y="40282"/>
                    <a:pt x="1152997" y="54822"/>
                  </a:cubicBezTo>
                  <a:lnTo>
                    <a:pt x="1152997" y="865885"/>
                  </a:lnTo>
                  <a:cubicBezTo>
                    <a:pt x="1152997" y="880425"/>
                    <a:pt x="1147221" y="894369"/>
                    <a:pt x="1136940" y="904650"/>
                  </a:cubicBezTo>
                  <a:cubicBezTo>
                    <a:pt x="1126659" y="914931"/>
                    <a:pt x="1112715" y="920707"/>
                    <a:pt x="1098175" y="920707"/>
                  </a:cubicBezTo>
                  <a:lnTo>
                    <a:pt x="54822" y="920707"/>
                  </a:lnTo>
                  <a:cubicBezTo>
                    <a:pt x="24545" y="920707"/>
                    <a:pt x="0" y="896162"/>
                    <a:pt x="0" y="865885"/>
                  </a:cubicBezTo>
                  <a:lnTo>
                    <a:pt x="0" y="54822"/>
                  </a:lnTo>
                  <a:cubicBezTo>
                    <a:pt x="0" y="24545"/>
                    <a:pt x="24545" y="0"/>
                    <a:pt x="5482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52997" cy="958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57364" y="5405437"/>
            <a:ext cx="4377787" cy="3495810"/>
            <a:chOff x="0" y="0"/>
            <a:chExt cx="1152997" cy="9207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2997" cy="920707"/>
            </a:xfrm>
            <a:custGeom>
              <a:avLst/>
              <a:gdLst/>
              <a:ahLst/>
              <a:cxnLst/>
              <a:rect l="l" t="t" r="r" b="b"/>
              <a:pathLst>
                <a:path w="1152997" h="920707">
                  <a:moveTo>
                    <a:pt x="54822" y="0"/>
                  </a:moveTo>
                  <a:lnTo>
                    <a:pt x="1098175" y="0"/>
                  </a:lnTo>
                  <a:cubicBezTo>
                    <a:pt x="1112715" y="0"/>
                    <a:pt x="1126659" y="5776"/>
                    <a:pt x="1136940" y="16057"/>
                  </a:cubicBezTo>
                  <a:cubicBezTo>
                    <a:pt x="1147221" y="26338"/>
                    <a:pt x="1152997" y="40282"/>
                    <a:pt x="1152997" y="54822"/>
                  </a:cubicBezTo>
                  <a:lnTo>
                    <a:pt x="1152997" y="865885"/>
                  </a:lnTo>
                  <a:cubicBezTo>
                    <a:pt x="1152997" y="880425"/>
                    <a:pt x="1147221" y="894369"/>
                    <a:pt x="1136940" y="904650"/>
                  </a:cubicBezTo>
                  <a:cubicBezTo>
                    <a:pt x="1126659" y="914931"/>
                    <a:pt x="1112715" y="920707"/>
                    <a:pt x="1098175" y="920707"/>
                  </a:cubicBezTo>
                  <a:lnTo>
                    <a:pt x="54822" y="920707"/>
                  </a:lnTo>
                  <a:cubicBezTo>
                    <a:pt x="24545" y="920707"/>
                    <a:pt x="0" y="896162"/>
                    <a:pt x="0" y="865885"/>
                  </a:cubicBezTo>
                  <a:lnTo>
                    <a:pt x="0" y="54822"/>
                  </a:lnTo>
                  <a:cubicBezTo>
                    <a:pt x="0" y="24545"/>
                    <a:pt x="24545" y="0"/>
                    <a:pt x="5482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52997" cy="958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880445" y="1859759"/>
            <a:ext cx="718022" cy="723987"/>
            <a:chOff x="0" y="0"/>
            <a:chExt cx="189109" cy="1906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9109" cy="190680"/>
            </a:xfrm>
            <a:custGeom>
              <a:avLst/>
              <a:gdLst/>
              <a:ahLst/>
              <a:cxnLst/>
              <a:rect l="l" t="t" r="r" b="b"/>
              <a:pathLst>
                <a:path w="189109" h="190680">
                  <a:moveTo>
                    <a:pt x="94554" y="0"/>
                  </a:moveTo>
                  <a:lnTo>
                    <a:pt x="94554" y="0"/>
                  </a:lnTo>
                  <a:cubicBezTo>
                    <a:pt x="119632" y="0"/>
                    <a:pt x="143682" y="9962"/>
                    <a:pt x="161414" y="27694"/>
                  </a:cubicBezTo>
                  <a:cubicBezTo>
                    <a:pt x="179147" y="45427"/>
                    <a:pt x="189109" y="69477"/>
                    <a:pt x="189109" y="94554"/>
                  </a:cubicBezTo>
                  <a:lnTo>
                    <a:pt x="189109" y="96125"/>
                  </a:lnTo>
                  <a:cubicBezTo>
                    <a:pt x="189109" y="148346"/>
                    <a:pt x="146775" y="190680"/>
                    <a:pt x="94554" y="190680"/>
                  </a:cubicBezTo>
                  <a:lnTo>
                    <a:pt x="94554" y="190680"/>
                  </a:lnTo>
                  <a:cubicBezTo>
                    <a:pt x="69477" y="190680"/>
                    <a:pt x="45427" y="180718"/>
                    <a:pt x="27694" y="162985"/>
                  </a:cubicBezTo>
                  <a:cubicBezTo>
                    <a:pt x="9962" y="145253"/>
                    <a:pt x="0" y="121203"/>
                    <a:pt x="0" y="96125"/>
                  </a:cubicBezTo>
                  <a:lnTo>
                    <a:pt x="0" y="94554"/>
                  </a:lnTo>
                  <a:cubicBezTo>
                    <a:pt x="0" y="42333"/>
                    <a:pt x="42333" y="0"/>
                    <a:pt x="945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9109" cy="228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880445" y="5879445"/>
            <a:ext cx="718022" cy="723987"/>
            <a:chOff x="0" y="0"/>
            <a:chExt cx="189109" cy="1906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9109" cy="190680"/>
            </a:xfrm>
            <a:custGeom>
              <a:avLst/>
              <a:gdLst/>
              <a:ahLst/>
              <a:cxnLst/>
              <a:rect l="l" t="t" r="r" b="b"/>
              <a:pathLst>
                <a:path w="189109" h="190680">
                  <a:moveTo>
                    <a:pt x="94554" y="0"/>
                  </a:moveTo>
                  <a:lnTo>
                    <a:pt x="94554" y="0"/>
                  </a:lnTo>
                  <a:cubicBezTo>
                    <a:pt x="119632" y="0"/>
                    <a:pt x="143682" y="9962"/>
                    <a:pt x="161414" y="27694"/>
                  </a:cubicBezTo>
                  <a:cubicBezTo>
                    <a:pt x="179147" y="45427"/>
                    <a:pt x="189109" y="69477"/>
                    <a:pt x="189109" y="94554"/>
                  </a:cubicBezTo>
                  <a:lnTo>
                    <a:pt x="189109" y="96125"/>
                  </a:lnTo>
                  <a:cubicBezTo>
                    <a:pt x="189109" y="148346"/>
                    <a:pt x="146775" y="190680"/>
                    <a:pt x="94554" y="190680"/>
                  </a:cubicBezTo>
                  <a:lnTo>
                    <a:pt x="94554" y="190680"/>
                  </a:lnTo>
                  <a:cubicBezTo>
                    <a:pt x="69477" y="190680"/>
                    <a:pt x="45427" y="180718"/>
                    <a:pt x="27694" y="162985"/>
                  </a:cubicBezTo>
                  <a:cubicBezTo>
                    <a:pt x="9962" y="145253"/>
                    <a:pt x="0" y="121203"/>
                    <a:pt x="0" y="96125"/>
                  </a:cubicBezTo>
                  <a:lnTo>
                    <a:pt x="0" y="94554"/>
                  </a:lnTo>
                  <a:cubicBezTo>
                    <a:pt x="0" y="42333"/>
                    <a:pt x="42333" y="0"/>
                    <a:pt x="945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100000">
                  <a:srgbClr val="5DD8E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89109" cy="228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992401" y="1385752"/>
            <a:ext cx="4767627" cy="7515495"/>
            <a:chOff x="0" y="0"/>
            <a:chExt cx="376701" cy="5938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6701" cy="593817"/>
            </a:xfrm>
            <a:custGeom>
              <a:avLst/>
              <a:gdLst/>
              <a:ahLst/>
              <a:cxnLst/>
              <a:rect l="l" t="t" r="r" b="b"/>
              <a:pathLst>
                <a:path w="376701" h="593817">
                  <a:moveTo>
                    <a:pt x="47092" y="0"/>
                  </a:moveTo>
                  <a:lnTo>
                    <a:pt x="329610" y="0"/>
                  </a:lnTo>
                  <a:cubicBezTo>
                    <a:pt x="342099" y="0"/>
                    <a:pt x="354077" y="4961"/>
                    <a:pt x="362909" y="13793"/>
                  </a:cubicBezTo>
                  <a:cubicBezTo>
                    <a:pt x="371740" y="22624"/>
                    <a:pt x="376701" y="34602"/>
                    <a:pt x="376701" y="47092"/>
                  </a:cubicBezTo>
                  <a:lnTo>
                    <a:pt x="376701" y="546725"/>
                  </a:lnTo>
                  <a:cubicBezTo>
                    <a:pt x="376701" y="572733"/>
                    <a:pt x="355618" y="593817"/>
                    <a:pt x="329610" y="593817"/>
                  </a:cubicBezTo>
                  <a:lnTo>
                    <a:pt x="47092" y="593817"/>
                  </a:lnTo>
                  <a:cubicBezTo>
                    <a:pt x="34602" y="593817"/>
                    <a:pt x="22624" y="588855"/>
                    <a:pt x="13793" y="580024"/>
                  </a:cubicBezTo>
                  <a:cubicBezTo>
                    <a:pt x="4961" y="571193"/>
                    <a:pt x="0" y="559215"/>
                    <a:pt x="0" y="546725"/>
                  </a:cubicBezTo>
                  <a:lnTo>
                    <a:pt x="0" y="47092"/>
                  </a:lnTo>
                  <a:cubicBezTo>
                    <a:pt x="0" y="34602"/>
                    <a:pt x="4961" y="22624"/>
                    <a:pt x="13793" y="13793"/>
                  </a:cubicBezTo>
                  <a:cubicBezTo>
                    <a:pt x="22624" y="4961"/>
                    <a:pt x="34602" y="0"/>
                    <a:pt x="47092" y="0"/>
                  </a:cubicBezTo>
                  <a:close/>
                </a:path>
              </a:pathLst>
            </a:custGeom>
            <a:blipFill>
              <a:blip r:embed="rId1"/>
              <a:stretch>
                <a:fillRect t="-247" b="-24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12102887" y="6104869"/>
            <a:ext cx="273139" cy="273139"/>
          </a:xfrm>
          <a:custGeom>
            <a:avLst/>
            <a:gdLst/>
            <a:ahLst/>
            <a:cxnLst/>
            <a:rect l="l" t="t" r="r" b="b"/>
            <a:pathLst>
              <a:path w="273139" h="273139">
                <a:moveTo>
                  <a:pt x="0" y="0"/>
                </a:moveTo>
                <a:lnTo>
                  <a:pt x="273138" y="0"/>
                </a:lnTo>
                <a:lnTo>
                  <a:pt x="273138" y="273138"/>
                </a:lnTo>
                <a:lnTo>
                  <a:pt x="0" y="273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2102887" y="2085183"/>
            <a:ext cx="273139" cy="273139"/>
          </a:xfrm>
          <a:custGeom>
            <a:avLst/>
            <a:gdLst/>
            <a:ahLst/>
            <a:cxnLst/>
            <a:rect l="l" t="t" r="r" b="b"/>
            <a:pathLst>
              <a:path w="273139" h="273139">
                <a:moveTo>
                  <a:pt x="0" y="0"/>
                </a:moveTo>
                <a:lnTo>
                  <a:pt x="273138" y="0"/>
                </a:lnTo>
                <a:lnTo>
                  <a:pt x="273138" y="273139"/>
                </a:lnTo>
                <a:lnTo>
                  <a:pt x="0" y="273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65173" y="9258300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4" y="0"/>
                </a:lnTo>
                <a:lnTo>
                  <a:pt x="1727054" y="1751131"/>
                </a:lnTo>
                <a:lnTo>
                  <a:pt x="0" y="1751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547913" y="1819904"/>
            <a:ext cx="5702309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Conclusion</a:t>
            </a:r>
            <a:endParaRPr lang="en-US" sz="6605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47913" y="2824402"/>
            <a:ext cx="5702309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and Future</a:t>
            </a:r>
            <a:endParaRPr lang="en-US" sz="6605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547913" y="3823417"/>
            <a:ext cx="5702309" cy="112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6605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Outlook</a:t>
            </a:r>
            <a:endParaRPr lang="en-US" sz="6605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47913" y="5901251"/>
            <a:ext cx="5103228" cy="187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20"/>
              </a:lnSpc>
              <a:spcBef>
                <a:spcPct val="0"/>
              </a:spcBef>
            </a:pPr>
            <a:r>
              <a:rPr lang="en-US" sz="1515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MediFlow+ delivers an integrated, role-based hospital management platform built with PHP 8, MySQL, HTML5, CSS3, and Vanilla JS. It unifies patient journeys, clinical workflows, lab services, pharmacy, billing, bed management, and analytics — meeting all core objectives of digitized operations and real-time visibility.</a:t>
            </a:r>
            <a:endParaRPr lang="en-US" sz="1515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294048" y="1812134"/>
            <a:ext cx="1608061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0"/>
              </a:lnSpc>
              <a:spcBef>
                <a:spcPct val="0"/>
              </a:spcBef>
            </a:pPr>
            <a:r>
              <a:rPr lang="en-US" sz="1650" b="1">
                <a:solidFill>
                  <a:srgbClr val="00477B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Platform</a:t>
            </a:r>
            <a:endParaRPr lang="en-US" sz="1650" b="1">
              <a:solidFill>
                <a:srgbClr val="00477B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marL="0" lvl="0" indent="0" algn="l">
              <a:lnSpc>
                <a:spcPts val="2310"/>
              </a:lnSpc>
              <a:spcBef>
                <a:spcPct val="0"/>
              </a:spcBef>
            </a:pPr>
            <a:r>
              <a:rPr lang="en-US" sz="1650" b="1">
                <a:solidFill>
                  <a:srgbClr val="00477B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Achievements</a:t>
            </a:r>
            <a:endParaRPr lang="en-US" sz="1650" b="1">
              <a:solidFill>
                <a:srgbClr val="00477B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294048" y="5831820"/>
            <a:ext cx="1608061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0"/>
              </a:lnSpc>
              <a:spcBef>
                <a:spcPct val="0"/>
              </a:spcBef>
            </a:pPr>
            <a:r>
              <a:rPr lang="en-US" sz="1650" b="1">
                <a:solidFill>
                  <a:srgbClr val="00477B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Future</a:t>
            </a:r>
            <a:endParaRPr lang="en-US" sz="1650" b="1">
              <a:solidFill>
                <a:srgbClr val="00477B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marL="0" lvl="0" indent="0" algn="l">
              <a:lnSpc>
                <a:spcPts val="2310"/>
              </a:lnSpc>
              <a:spcBef>
                <a:spcPct val="0"/>
              </a:spcBef>
            </a:pPr>
            <a:r>
              <a:rPr lang="en-US" sz="1650" b="1">
                <a:solidFill>
                  <a:srgbClr val="00477B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Roadmap</a:t>
            </a:r>
            <a:endParaRPr lang="en-US" sz="1650" b="1">
              <a:solidFill>
                <a:srgbClr val="00477B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294048" y="3166899"/>
            <a:ext cx="3304419" cy="1147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5"/>
              </a:lnSpc>
              <a:spcBef>
                <a:spcPct val="0"/>
              </a:spcBef>
            </a:pPr>
            <a:r>
              <a:rPr lang="en-US" sz="131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Unified patient journeys, clinical workflows, lab services, pharmacy, billing, bed and ward management, and real-time analytics. Core objectives fully met with digitized operations.</a:t>
            </a:r>
            <a:endParaRPr lang="en-US" sz="131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294048" y="7186584"/>
            <a:ext cx="3304419" cy="1147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5"/>
              </a:lnSpc>
              <a:spcBef>
                <a:spcPct val="0"/>
              </a:spcBef>
            </a:pPr>
            <a:r>
              <a:rPr lang="en-US" sz="1310">
                <a:solidFill>
                  <a:srgbClr val="343434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SMTP/SMS notifications, payment gateway integration, cloud deployment, disaster recovery, AI clinical validation, HIPAA/GDPR compliance, and HL7/FHIR interoperability.</a:t>
            </a:r>
            <a:endParaRPr lang="en-US" sz="1310">
              <a:solidFill>
                <a:srgbClr val="343434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3690614" cy="10287000"/>
            <a:chOff x="0" y="0"/>
            <a:chExt cx="898908" cy="6754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8908" cy="675431"/>
            </a:xfrm>
            <a:custGeom>
              <a:avLst/>
              <a:gdLst/>
              <a:ahLst/>
              <a:cxnLst/>
              <a:rect l="l" t="t" r="r" b="b"/>
              <a:pathLst>
                <a:path w="898908" h="675431">
                  <a:moveTo>
                    <a:pt x="0" y="0"/>
                  </a:moveTo>
                  <a:lnTo>
                    <a:pt x="898908" y="0"/>
                  </a:lnTo>
                  <a:lnTo>
                    <a:pt x="898908" y="675431"/>
                  </a:lnTo>
                  <a:lnTo>
                    <a:pt x="0" y="675431"/>
                  </a:lnTo>
                  <a:close/>
                </a:path>
              </a:pathLst>
            </a:custGeom>
            <a:gradFill rotWithShape="1">
              <a:gsLst>
                <a:gs pos="0">
                  <a:srgbClr val="00477B">
                    <a:alpha val="100000"/>
                  </a:srgbClr>
                </a:gs>
                <a:gs pos="50000">
                  <a:srgbClr val="00477B">
                    <a:alpha val="79500"/>
                  </a:srgbClr>
                </a:gs>
                <a:gs pos="100000">
                  <a:srgbClr val="00477B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8908" cy="713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80865" y="7955253"/>
            <a:ext cx="11977074" cy="1002215"/>
            <a:chOff x="0" y="0"/>
            <a:chExt cx="3154456" cy="2639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54456" cy="263958"/>
            </a:xfrm>
            <a:custGeom>
              <a:avLst/>
              <a:gdLst/>
              <a:ahLst/>
              <a:cxnLst/>
              <a:rect l="l" t="t" r="r" b="b"/>
              <a:pathLst>
                <a:path w="3154456" h="263958">
                  <a:moveTo>
                    <a:pt x="64639" y="0"/>
                  </a:moveTo>
                  <a:lnTo>
                    <a:pt x="3089816" y="0"/>
                  </a:lnTo>
                  <a:cubicBezTo>
                    <a:pt x="3106960" y="0"/>
                    <a:pt x="3123401" y="6810"/>
                    <a:pt x="3135523" y="18932"/>
                  </a:cubicBezTo>
                  <a:cubicBezTo>
                    <a:pt x="3147645" y="31055"/>
                    <a:pt x="3154456" y="47496"/>
                    <a:pt x="3154456" y="64639"/>
                  </a:cubicBezTo>
                  <a:lnTo>
                    <a:pt x="3154456" y="199318"/>
                  </a:lnTo>
                  <a:cubicBezTo>
                    <a:pt x="3154456" y="216462"/>
                    <a:pt x="3147645" y="232903"/>
                    <a:pt x="3135523" y="245025"/>
                  </a:cubicBezTo>
                  <a:cubicBezTo>
                    <a:pt x="3123401" y="257148"/>
                    <a:pt x="3106960" y="263958"/>
                    <a:pt x="3089816" y="263958"/>
                  </a:cubicBezTo>
                  <a:lnTo>
                    <a:pt x="64639" y="263958"/>
                  </a:lnTo>
                  <a:cubicBezTo>
                    <a:pt x="47496" y="263958"/>
                    <a:pt x="31055" y="257148"/>
                    <a:pt x="18932" y="245025"/>
                  </a:cubicBezTo>
                  <a:cubicBezTo>
                    <a:pt x="6810" y="232903"/>
                    <a:pt x="0" y="216462"/>
                    <a:pt x="0" y="199318"/>
                  </a:cubicBezTo>
                  <a:lnTo>
                    <a:pt x="0" y="64639"/>
                  </a:lnTo>
                  <a:cubicBezTo>
                    <a:pt x="0" y="47496"/>
                    <a:pt x="6810" y="31055"/>
                    <a:pt x="18932" y="18932"/>
                  </a:cubicBezTo>
                  <a:cubicBezTo>
                    <a:pt x="31055" y="6810"/>
                    <a:pt x="47496" y="0"/>
                    <a:pt x="6463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4F1FA">
                    <a:alpha val="100000"/>
                  </a:srgbClr>
                </a:gs>
                <a:gs pos="100000">
                  <a:srgbClr val="02487C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154456" cy="302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7950173"/>
            <a:ext cx="631079" cy="1002215"/>
            <a:chOff x="0" y="0"/>
            <a:chExt cx="166210" cy="2639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6210" cy="263958"/>
            </a:xfrm>
            <a:custGeom>
              <a:avLst/>
              <a:gdLst/>
              <a:ahLst/>
              <a:cxnLst/>
              <a:rect l="l" t="t" r="r" b="b"/>
              <a:pathLst>
                <a:path w="166210" h="263958">
                  <a:moveTo>
                    <a:pt x="0" y="0"/>
                  </a:moveTo>
                  <a:lnTo>
                    <a:pt x="166210" y="0"/>
                  </a:lnTo>
                  <a:lnTo>
                    <a:pt x="166210" y="263958"/>
                  </a:lnTo>
                  <a:lnTo>
                    <a:pt x="0" y="2639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6210" cy="302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12" name="AutoShape 12"/>
          <p:cNvSpPr/>
          <p:nvPr/>
        </p:nvSpPr>
        <p:spPr>
          <a:xfrm>
            <a:off x="0" y="1515631"/>
            <a:ext cx="3122167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547913" y="8190619"/>
            <a:ext cx="521324" cy="521324"/>
            <a:chOff x="0" y="0"/>
            <a:chExt cx="137303" cy="13730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7303" cy="137303"/>
            </a:xfrm>
            <a:custGeom>
              <a:avLst/>
              <a:gdLst/>
              <a:ahLst/>
              <a:cxnLst/>
              <a:rect l="l" t="t" r="r" b="b"/>
              <a:pathLst>
                <a:path w="137303" h="137303">
                  <a:moveTo>
                    <a:pt x="68652" y="0"/>
                  </a:moveTo>
                  <a:lnTo>
                    <a:pt x="68652" y="0"/>
                  </a:lnTo>
                  <a:cubicBezTo>
                    <a:pt x="106567" y="0"/>
                    <a:pt x="137303" y="30736"/>
                    <a:pt x="137303" y="68652"/>
                  </a:cubicBezTo>
                  <a:lnTo>
                    <a:pt x="137303" y="68652"/>
                  </a:lnTo>
                  <a:cubicBezTo>
                    <a:pt x="137303" y="86859"/>
                    <a:pt x="130071" y="104321"/>
                    <a:pt x="117196" y="117196"/>
                  </a:cubicBezTo>
                  <a:cubicBezTo>
                    <a:pt x="104321" y="130071"/>
                    <a:pt x="86859" y="137303"/>
                    <a:pt x="68652" y="137303"/>
                  </a:cubicBezTo>
                  <a:lnTo>
                    <a:pt x="68652" y="137303"/>
                  </a:lnTo>
                  <a:cubicBezTo>
                    <a:pt x="50444" y="137303"/>
                    <a:pt x="32982" y="130071"/>
                    <a:pt x="20108" y="117196"/>
                  </a:cubicBezTo>
                  <a:cubicBezTo>
                    <a:pt x="7233" y="104321"/>
                    <a:pt x="0" y="86859"/>
                    <a:pt x="0" y="68652"/>
                  </a:cubicBezTo>
                  <a:lnTo>
                    <a:pt x="0" y="68652"/>
                  </a:lnTo>
                  <a:cubicBezTo>
                    <a:pt x="0" y="50444"/>
                    <a:pt x="7233" y="32982"/>
                    <a:pt x="20108" y="20108"/>
                  </a:cubicBezTo>
                  <a:cubicBezTo>
                    <a:pt x="32982" y="7233"/>
                    <a:pt x="50444" y="0"/>
                    <a:pt x="6865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37303" cy="175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</a:p>
          </p:txBody>
        </p:sp>
      </p:grpSp>
      <p:sp>
        <p:nvSpPr>
          <p:cNvPr id="16" name="Freeform 16"/>
          <p:cNvSpPr/>
          <p:nvPr/>
        </p:nvSpPr>
        <p:spPr>
          <a:xfrm>
            <a:off x="5039455" y="8190619"/>
            <a:ext cx="521324" cy="521324"/>
          </a:xfrm>
          <a:custGeom>
            <a:avLst/>
            <a:gdLst/>
            <a:ahLst/>
            <a:cxnLst/>
            <a:rect l="l" t="t" r="r" b="b"/>
            <a:pathLst>
              <a:path w="521324" h="521324">
                <a:moveTo>
                  <a:pt x="0" y="0"/>
                </a:moveTo>
                <a:lnTo>
                  <a:pt x="521324" y="0"/>
                </a:lnTo>
                <a:lnTo>
                  <a:pt x="521324" y="521324"/>
                </a:lnTo>
                <a:lnTo>
                  <a:pt x="0" y="5213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6263356" y="8244448"/>
            <a:ext cx="1727053" cy="1751131"/>
          </a:xfrm>
          <a:custGeom>
            <a:avLst/>
            <a:gdLst/>
            <a:ahLst/>
            <a:cxnLst/>
            <a:rect l="l" t="t" r="r" b="b"/>
            <a:pathLst>
              <a:path w="1727053" h="1751131">
                <a:moveTo>
                  <a:pt x="0" y="0"/>
                </a:moveTo>
                <a:lnTo>
                  <a:pt x="1727053" y="0"/>
                </a:lnTo>
                <a:lnTo>
                  <a:pt x="1727053" y="1751131"/>
                </a:lnTo>
                <a:lnTo>
                  <a:pt x="0" y="1751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547913" y="2866091"/>
            <a:ext cx="7771879" cy="934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40"/>
              </a:lnSpc>
              <a:spcBef>
                <a:spcPct val="0"/>
              </a:spcBef>
            </a:pPr>
            <a:r>
              <a:rPr lang="en-US" sz="5455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  <a:endParaRPr lang="en-US" sz="5455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47913" y="4107080"/>
            <a:ext cx="10702384" cy="934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40"/>
              </a:lnSpc>
              <a:spcBef>
                <a:spcPct val="0"/>
              </a:spcBef>
            </a:pPr>
            <a:r>
              <a:rPr lang="en-US" sz="5455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Questions &amp; Discussion</a:t>
            </a:r>
            <a:endParaRPr lang="en-US" sz="5455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267164" y="8238015"/>
            <a:ext cx="2572266" cy="26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0"/>
              </a:lnSpc>
              <a:spcBef>
                <a:spcPct val="0"/>
              </a:spcBef>
            </a:pPr>
            <a:r>
              <a:rPr lang="en-US" sz="1550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mediflow@university.ac.uk</a:t>
            </a:r>
            <a:endParaRPr lang="en-US" sz="1550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760804" y="8238015"/>
            <a:ext cx="3907375" cy="26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0"/>
              </a:lnSpc>
              <a:spcBef>
                <a:spcPct val="0"/>
              </a:spcBef>
            </a:pPr>
            <a:r>
              <a:rPr lang="en-US" sz="1550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www.mediflow-hms.ac.uk</a:t>
            </a:r>
            <a:endParaRPr lang="en-US" sz="1550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8700" y="848042"/>
            <a:ext cx="1871350" cy="23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50"/>
              </a:lnSpc>
              <a:spcBef>
                <a:spcPct val="0"/>
              </a:spcBef>
            </a:pPr>
            <a:r>
              <a:rPr lang="en-US" sz="1320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MediFlow+</a:t>
            </a:r>
            <a:endParaRPr lang="en-US" sz="1320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47913" y="6143748"/>
            <a:ext cx="6155271" cy="414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MediFlow+ | Healthcare Management System</a:t>
            </a:r>
            <a:endParaRPr lang="en-US" sz="1200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 Light" panose="00000400000000000000"/>
                <a:ea typeface="Poppins Light" panose="00000400000000000000"/>
                <a:cs typeface="Poppins Light" panose="00000400000000000000"/>
                <a:sym typeface="Poppins Light" panose="00000400000000000000"/>
              </a:rPr>
              <a:t>Intelligent, Connected and Patient-Centred Healthcare</a:t>
            </a:r>
            <a:endParaRPr lang="en-US" sz="1200">
              <a:solidFill>
                <a:srgbClr val="FFFFFF"/>
              </a:solidFill>
              <a:latin typeface="Poppins Light" panose="00000400000000000000"/>
              <a:ea typeface="Poppins Light" panose="00000400000000000000"/>
              <a:cs typeface="Poppins Light" panose="00000400000000000000"/>
              <a:sym typeface="Poppins Light" panose="00000400000000000000"/>
            </a:endParaRPr>
          </a:p>
        </p:txBody>
      </p:sp>
      <p:sp>
        <p:nvSpPr>
          <p:cNvPr id="24" name="Freeform 24"/>
          <p:cNvSpPr/>
          <p:nvPr/>
        </p:nvSpPr>
        <p:spPr>
          <a:xfrm rot="8040000">
            <a:off x="1632892" y="8276115"/>
            <a:ext cx="349267" cy="349267"/>
          </a:xfrm>
          <a:custGeom>
            <a:avLst/>
            <a:gdLst/>
            <a:ahLst/>
            <a:cxnLst/>
            <a:rect l="l" t="t" r="r" b="b"/>
            <a:pathLst>
              <a:path w="349267" h="349267">
                <a:moveTo>
                  <a:pt x="0" y="0"/>
                </a:moveTo>
                <a:lnTo>
                  <a:pt x="349267" y="0"/>
                </a:lnTo>
                <a:lnTo>
                  <a:pt x="349267" y="349267"/>
                </a:lnTo>
                <a:lnTo>
                  <a:pt x="0" y="3492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11490</Words>
  <Application>WPS Presentation</Application>
  <PresentationFormat>Custom</PresentationFormat>
  <Paragraphs>287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SimSun</vt:lpstr>
      <vt:lpstr>Wingdings</vt:lpstr>
      <vt:lpstr>Garet Bold</vt:lpstr>
      <vt:lpstr>Poppins Light</vt:lpstr>
      <vt:lpstr>Poppins Bold</vt:lpstr>
      <vt:lpstr>Poppins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MediFlow+ Hospital &amp; Healthcare Management System Overview</dc:title>
  <dc:creator>MANASIR</dc:creator>
  <cp:lastModifiedBy>MANASIR</cp:lastModifiedBy>
  <cp:revision>2</cp:revision>
  <dcterms:created xsi:type="dcterms:W3CDTF">2006-08-16T00:00:00Z</dcterms:created>
  <dcterms:modified xsi:type="dcterms:W3CDTF">2026-10-05T20:42:52Z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8A488B4BE33B4D0696F48079D7D62764_12</vt:lpwstr>
  </property>
  <property fmtid="{D5CDD505-2E9C-101B-9397-08002B2CF9AE}" pid="3" name="KSOProductBuildVer">
    <vt:lpwstr>1033-12.1.0.28485</vt:lpwstr>
  </property>
</Properties>
</file>