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7" d="100"/>
          <a:sy n="67" d="100"/>
        </p:scale>
        <p:origin x="89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59465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474720" y="0"/>
            <a:ext cx="7315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280160" y="1188720"/>
            <a:ext cx="91440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682496" y="786384"/>
            <a:ext cx="16459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91840" y="914400"/>
            <a:ext cx="5577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MediFlow+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3291840" y="1920240"/>
            <a:ext cx="5577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Patient Experience &amp;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Resource Management System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291840" y="274320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A0C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Sri Lankan Private Hospitals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383280" y="32461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383280" y="3566160"/>
            <a:ext cx="5486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MIM. Athnan  |  03241153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2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MM. Manasir  |  03241018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2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Dharshika  |  03241177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2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JF. Ashra  |  03241162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2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AM. Rose Meha  |  03241047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2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IF. Ifra  |  03241179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37160" y="4480560"/>
            <a:ext cx="621792" cy="274320"/>
          </a:xfrm>
          <a:prstGeom prst="roundRect">
            <a:avLst>
              <a:gd name="adj" fmla="val 16667"/>
            </a:avLst>
          </a:prstGeom>
          <a:solidFill>
            <a:srgbClr val="0A2540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37160" y="448056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813816" y="4480560"/>
            <a:ext cx="621792" cy="274320"/>
          </a:xfrm>
          <a:prstGeom prst="roundRect">
            <a:avLst>
              <a:gd name="adj" fmla="val 16667"/>
            </a:avLst>
          </a:prstGeom>
          <a:solidFill>
            <a:srgbClr val="0A2540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13816" y="448056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1490472" y="4480560"/>
            <a:ext cx="621792" cy="274320"/>
          </a:xfrm>
          <a:prstGeom prst="roundRect">
            <a:avLst>
              <a:gd name="adj" fmla="val 16667"/>
            </a:avLst>
          </a:prstGeom>
          <a:solidFill>
            <a:srgbClr val="0A2540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490472" y="448056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167128" y="4480560"/>
            <a:ext cx="621792" cy="274320"/>
          </a:xfrm>
          <a:prstGeom prst="roundRect">
            <a:avLst>
              <a:gd name="adj" fmla="val 16667"/>
            </a:avLst>
          </a:prstGeom>
          <a:solidFill>
            <a:srgbClr val="0A2540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167128" y="448056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843784" y="4480560"/>
            <a:ext cx="621792" cy="274320"/>
          </a:xfrm>
          <a:prstGeom prst="roundRect">
            <a:avLst>
              <a:gd name="adj" fmla="val 16667"/>
            </a:avLst>
          </a:prstGeom>
          <a:solidFill>
            <a:srgbClr val="0A2540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843784" y="448056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Introduction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384048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CCE0E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11430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Hospitals Have Today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3566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Channeling &amp; Appointment Booking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Payments &amp; Telemedicine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Laboratory Report Downloads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Pharmacy Services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Registration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Packages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1051560"/>
            <a:ext cx="4480560" cy="3566160"/>
          </a:xfrm>
          <a:prstGeom prst="rect">
            <a:avLst/>
          </a:prstGeom>
          <a:solidFill>
            <a:srgbClr val="FFF3F0"/>
          </a:solidFill>
          <a:ln w="6350">
            <a:solidFill>
              <a:srgbClr val="CCE0E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26280" y="11430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Gaps Patients Still Face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26280" y="1508760"/>
            <a:ext cx="42062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Unpredictable waiting times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 locating departments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ICU family communication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bed availability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treatment cost transparency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hospital branch comparison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74320" y="470916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MediFlow+ bridges the gap with smart, patient-centered innovation.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2651760" cy="1508760"/>
          </a:xfrm>
          <a:prstGeom prst="rect">
            <a:avLst/>
          </a:prstGeom>
          <a:solidFill>
            <a:srgbClr val="0D2F45"/>
          </a:solidFill>
          <a:ln w="6350">
            <a:solidFill>
              <a:srgbClr val="CCE0E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54864" cy="15087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116128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⏱ Waiting Time Uncertainty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11480" y="1527048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D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have no visibility into real-time queue status or doctor delays.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46120" y="1051560"/>
            <a:ext cx="2651760" cy="1508760"/>
          </a:xfrm>
          <a:prstGeom prst="rect">
            <a:avLst/>
          </a:prstGeom>
          <a:solidFill>
            <a:srgbClr val="0D2F45"/>
          </a:solidFill>
          <a:ln w="6350">
            <a:solidFill>
              <a:srgbClr val="CCE0E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246120" y="1051560"/>
            <a:ext cx="54864" cy="15087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383280" y="116128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🗺 Navigation Difficulties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383280" y="1527048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D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Indoor hospital layouts are complex; departments are hard to locate.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217920" y="1051560"/>
            <a:ext cx="2651760" cy="1508760"/>
          </a:xfrm>
          <a:prstGeom prst="rect">
            <a:avLst/>
          </a:prstGeom>
          <a:solidFill>
            <a:srgbClr val="0D2F45"/>
          </a:solidFill>
          <a:ln w="6350">
            <a:solidFill>
              <a:srgbClr val="CCE0E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217920" y="1051560"/>
            <a:ext cx="54864" cy="15087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355080" y="116128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🏥 ICU Communication Gap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355080" y="1527048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D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Families of ICU patients receive limited and delayed updates.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2743200"/>
            <a:ext cx="2651760" cy="1508760"/>
          </a:xfrm>
          <a:prstGeom prst="rect">
            <a:avLst/>
          </a:prstGeom>
          <a:solidFill>
            <a:srgbClr val="0D2F45"/>
          </a:solidFill>
          <a:ln w="6350">
            <a:solidFill>
              <a:srgbClr val="CCE0E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74320" y="2743200"/>
            <a:ext cx="54864" cy="15087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11480" y="285292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🛏 Bed Availability Unknown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11480" y="3218688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D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system shows real-time availability of beds before admission.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46120" y="2743200"/>
            <a:ext cx="2651760" cy="1508760"/>
          </a:xfrm>
          <a:prstGeom prst="rect">
            <a:avLst/>
          </a:prstGeom>
          <a:solidFill>
            <a:srgbClr val="0D2F45"/>
          </a:solidFill>
          <a:ln w="6350">
            <a:solidFill>
              <a:srgbClr val="CCE0E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246120" y="2743200"/>
            <a:ext cx="54864" cy="15087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383280" y="285292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💰 No Cost Transparency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383280" y="3218688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D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cannot estimate treatment costs before visiting.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217920" y="2743200"/>
            <a:ext cx="2651760" cy="1508760"/>
          </a:xfrm>
          <a:prstGeom prst="rect">
            <a:avLst/>
          </a:prstGeom>
          <a:solidFill>
            <a:srgbClr val="0D2F45"/>
          </a:solidFill>
          <a:ln w="6350">
            <a:solidFill>
              <a:srgbClr val="CCE0E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217920" y="2743200"/>
            <a:ext cx="54864" cy="15087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355080" y="285292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⚖ No Hospital Comparison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355080" y="3218688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D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compare branches on waiting times, costs, or specialists.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Therefore, there is a need for a smart, patient-centered hospital management system.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Existing Features in Current Hospital Systems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201168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CCE0E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201168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👨‍⚕️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13258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Channeling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14600" y="1097280"/>
            <a:ext cx="201168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CCE0E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514600" y="1097280"/>
            <a:ext cx="201168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60604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📅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063240" y="13258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 Booking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0" y="1097280"/>
            <a:ext cx="201168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CCE0E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754880" y="1097280"/>
            <a:ext cx="201168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4632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303520" y="13258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Search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995160" y="1097280"/>
            <a:ext cx="201168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CCE0E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995160" y="1097280"/>
            <a:ext cx="201168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08660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💳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543800" y="13258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Payments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2286000"/>
            <a:ext cx="201168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CCE0E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74320" y="2286000"/>
            <a:ext cx="201168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6576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📹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822960" y="25146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Telemedicine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514600" y="2286000"/>
            <a:ext cx="201168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CCE0E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2514600" y="2286000"/>
            <a:ext cx="201168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60604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🧪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3063240" y="25146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Report Download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54880" y="2286000"/>
            <a:ext cx="201168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CCE0E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754880" y="2286000"/>
            <a:ext cx="201168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84632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💊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5303520" y="25146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Pharmacy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995160" y="2286000"/>
            <a:ext cx="201168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CCE0E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995160" y="2286000"/>
            <a:ext cx="201168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708660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🏷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7543800" y="25146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Packages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74320" y="3474720"/>
            <a:ext cx="201168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CCE0E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274320" y="3474720"/>
            <a:ext cx="201168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36576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822960" y="37033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Registration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514600" y="3474720"/>
            <a:ext cx="201168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CCE0E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2514600" y="3474720"/>
            <a:ext cx="201168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260604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📞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3063240" y="37033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&amp; Inquiries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754880" y="3474720"/>
            <a:ext cx="201168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CCE0E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4754880" y="3474720"/>
            <a:ext cx="201168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484632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🚑</a:t>
            </a:r>
            <a:endParaRPr lang="en-US" sz="2200" dirty="0"/>
          </a:p>
        </p:txBody>
      </p:sp>
      <p:sp>
        <p:nvSpPr>
          <p:cNvPr id="48" name="Text 46"/>
          <p:cNvSpPr/>
          <p:nvPr/>
        </p:nvSpPr>
        <p:spPr>
          <a:xfrm>
            <a:off x="5303520" y="37033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Ambulance Contact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Proposed Innovative Features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1645920" cy="1600200"/>
          </a:xfrm>
          <a:prstGeom prst="rect">
            <a:avLst/>
          </a:prstGeom>
          <a:solidFill>
            <a:srgbClr val="0D3349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1207008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🗺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47472" y="1828800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2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Hospital Navigation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103120" y="1005840"/>
            <a:ext cx="1645920" cy="1600200"/>
          </a:xfrm>
          <a:prstGeom prst="rect">
            <a:avLst/>
          </a:prstGeom>
          <a:solidFill>
            <a:srgbClr val="0D3349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240280" y="1207008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⏱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176272" y="1828800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2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Queue Tracking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931920" y="1005840"/>
            <a:ext cx="1645920" cy="1600200"/>
          </a:xfrm>
          <a:prstGeom prst="rect">
            <a:avLst/>
          </a:prstGeom>
          <a:solidFill>
            <a:srgbClr val="0D3349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069080" y="1207008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🛏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005072" y="1828800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2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 Availability Dashboard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760720" y="1005840"/>
            <a:ext cx="1645920" cy="1600200"/>
          </a:xfrm>
          <a:prstGeom prst="rect">
            <a:avLst/>
          </a:prstGeom>
          <a:solidFill>
            <a:srgbClr val="0D3349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897880" y="1207008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👨‍👩‍👧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5833872" y="1828800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2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ICU Family Update Portal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589520" y="1005840"/>
            <a:ext cx="1645920" cy="1600200"/>
          </a:xfrm>
          <a:prstGeom prst="rect">
            <a:avLst/>
          </a:prstGeom>
          <a:solidFill>
            <a:srgbClr val="0D3349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726680" y="1207008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👥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7662672" y="1828800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2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Crowd Monitoring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" y="2834640"/>
            <a:ext cx="1645920" cy="1600200"/>
          </a:xfrm>
          <a:prstGeom prst="rect">
            <a:avLst/>
          </a:prstGeom>
          <a:solidFill>
            <a:srgbClr val="0D3349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11480" y="3035808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🧭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347472" y="3657600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2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 Guidance System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103120" y="2834640"/>
            <a:ext cx="1645920" cy="1600200"/>
          </a:xfrm>
          <a:prstGeom prst="rect">
            <a:avLst/>
          </a:prstGeom>
          <a:solidFill>
            <a:srgbClr val="0D3349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240280" y="3035808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💰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2176272" y="3657600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2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Cost Estimator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931920" y="2834640"/>
            <a:ext cx="1645920" cy="1600200"/>
          </a:xfrm>
          <a:prstGeom prst="rect">
            <a:avLst/>
          </a:prstGeom>
          <a:solidFill>
            <a:srgbClr val="0D3349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069080" y="3035808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🧾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4005072" y="3657600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2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Bill Tracker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760720" y="2834640"/>
            <a:ext cx="1645920" cy="1600200"/>
          </a:xfrm>
          <a:prstGeom prst="rect">
            <a:avLst/>
          </a:prstGeom>
          <a:solidFill>
            <a:srgbClr val="0D3349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897880" y="3035808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⚖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5833872" y="3657600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2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Comparison Dashboard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589520" y="2834640"/>
            <a:ext cx="1645920" cy="1600200"/>
          </a:xfrm>
          <a:prstGeom prst="rect">
            <a:avLst/>
          </a:prstGeom>
          <a:solidFill>
            <a:srgbClr val="0D3349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726680" y="3035808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⭐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7662672" y="3657600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2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Feedback System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innovative features filling the gaps that current hospital systems leave unaddressed.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8595360" cy="685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1155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Main Objective: To improve patient experience and hospital operational transparency in Sri Lankan private hospitals.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920240"/>
            <a:ext cx="228600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CCE0E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74320" y="1920240"/>
            <a:ext cx="457200" cy="1188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7432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199339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Reduce Waiting Uncertainty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22960" y="237744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real-time queue tracking so patients know exactly when they will be attended to.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0" y="1920240"/>
            <a:ext cx="228600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CCE0E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743200" y="1920240"/>
            <a:ext cx="457200" cy="1188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74320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291840" y="199339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Improve Navigation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91840" y="237744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indoor maps guide patients and visitors to any hospital department easily.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212080" y="1920240"/>
            <a:ext cx="228600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CCE0E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212080" y="1920240"/>
            <a:ext cx="457200" cy="1188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21208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760720" y="199339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Enhance Communication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760720" y="237744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ICU family portals and crowd dashboards improve patient-hospital communication.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508760" y="3337560"/>
            <a:ext cx="228600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CCE0E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508760" y="3337560"/>
            <a:ext cx="457200" cy="11887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508760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2057400" y="341071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Resource Visibility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057400" y="379476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bed availability and department crowd levels allow efficient resource planning.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977640" y="3337560"/>
            <a:ext cx="228600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CCE0E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3977640" y="3337560"/>
            <a:ext cx="457200" cy="11887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977640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526280" y="341071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Patient Satisfaction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26280" y="379476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estimators, bill trackers, and feedback systems drive continuous improvement.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🗺  Smart Hospital Navigation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114800" cy="1005840"/>
          </a:xfrm>
          <a:prstGeom prst="rect">
            <a:avLst/>
          </a:prstGeom>
          <a:solidFill>
            <a:srgbClr val="0D2F45"/>
          </a:solidFill>
          <a:ln w="6350">
            <a:solidFill>
              <a:srgbClr val="CCE0E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0241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316736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D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struggle to locate departments inside large hospital buildings.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63440" y="1005840"/>
            <a:ext cx="4206240" cy="1005840"/>
          </a:xfrm>
          <a:prstGeom prst="rect">
            <a:avLst/>
          </a:prstGeom>
          <a:solidFill>
            <a:srgbClr val="0D3A2F"/>
          </a:solidFill>
          <a:ln w="6350">
            <a:solidFill>
              <a:srgbClr val="CCE0E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846320" y="10241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Solution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846320" y="1316736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D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indoor hospital map with navigation to all key departments.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194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Mapped Locations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4320" y="2651760"/>
            <a:ext cx="1143000" cy="1280160"/>
          </a:xfrm>
          <a:prstGeom prst="rect">
            <a:avLst/>
          </a:prstGeom>
          <a:solidFill>
            <a:srgbClr val="0D3349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74320" y="274320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🏥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74320" y="3246120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2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1536192" y="2651760"/>
            <a:ext cx="1143000" cy="1280160"/>
          </a:xfrm>
          <a:prstGeom prst="rect">
            <a:avLst/>
          </a:prstGeom>
          <a:solidFill>
            <a:srgbClr val="0D3349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536192" y="274320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💉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536192" y="3246120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2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ICU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798064" y="2651760"/>
            <a:ext cx="1143000" cy="1280160"/>
          </a:xfrm>
          <a:prstGeom prst="rect">
            <a:avLst/>
          </a:prstGeom>
          <a:solidFill>
            <a:srgbClr val="0D3349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798064" y="274320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🧪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2798064" y="3246120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2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Laboratory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059936" y="2651760"/>
            <a:ext cx="1143000" cy="1280160"/>
          </a:xfrm>
          <a:prstGeom prst="rect">
            <a:avLst/>
          </a:prstGeom>
          <a:solidFill>
            <a:srgbClr val="0D3349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059936" y="274320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💊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059936" y="3246120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2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Pharmacy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321808" y="2651760"/>
            <a:ext cx="1143000" cy="1280160"/>
          </a:xfrm>
          <a:prstGeom prst="rect">
            <a:avLst/>
          </a:prstGeom>
          <a:solidFill>
            <a:srgbClr val="0D3349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321808" y="274320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🔬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5321808" y="3246120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2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MRI Unit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583680" y="2651760"/>
            <a:ext cx="1143000" cy="1280160"/>
          </a:xfrm>
          <a:prstGeom prst="rect">
            <a:avLst/>
          </a:prstGeom>
          <a:solidFill>
            <a:srgbClr val="0D3349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583680" y="274320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💵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583680" y="3246120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2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Counter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7845552" y="2651760"/>
            <a:ext cx="1143000" cy="1280160"/>
          </a:xfrm>
          <a:prstGeom prst="rect">
            <a:avLst/>
          </a:prstGeom>
          <a:solidFill>
            <a:srgbClr val="0D3349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845552" y="274320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☕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7845552" y="3246120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2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Cafeteria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Benefit: Reduces confusion and saves valuable patient time.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⏱  Real-Time Queue Tracking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Patients have no way to know actual waiting times, causing frustration and wasted time.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554480"/>
            <a:ext cx="402336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CCE0E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1554480"/>
            <a:ext cx="402336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🎫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051560" y="16916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Token Tracking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51560" y="2029968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your current token number and the number being served in real time.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0" y="1554480"/>
            <a:ext cx="402336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CCE0E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572000" y="1554480"/>
            <a:ext cx="402336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70916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👥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349240" y="16916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Patients Ahead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349240" y="2029968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exactly how many patients are ahead of you in the queue.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3063240"/>
            <a:ext cx="402336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CCE0E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74320" y="3063240"/>
            <a:ext cx="402336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11480" y="3246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⏰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051560" y="32004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Estimated Wait Time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51560" y="3538728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calculation of your expected consultation time.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0" y="3063240"/>
            <a:ext cx="402336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CCE0E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572000" y="3063240"/>
            <a:ext cx="402336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709160" y="3246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🔔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5349240" y="32004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Doctor Delay Alerts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349240" y="3538728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instant notifications if the doctor is running behind schedule.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Benefit: Improves patient satisfaction and allows better personal planning.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🛏  Bed Availability Dashboard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2651760" cy="2468880"/>
          </a:xfrm>
          <a:prstGeom prst="rect">
            <a:avLst/>
          </a:prstGeom>
          <a:solidFill>
            <a:srgbClr val="0D2F45"/>
          </a:solidFill>
          <a:ln w="6350">
            <a:solidFill>
              <a:srgbClr val="CCE0E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88720" y="118872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🚨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02920" y="190195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ICU Beds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230428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 Available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02920" y="2743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D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12 total beds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94360" y="3127248"/>
            <a:ext cx="2194560" cy="164592"/>
          </a:xfrm>
          <a:prstGeom prst="rect">
            <a:avLst/>
          </a:prstGeom>
          <a:solidFill>
            <a:srgbClr val="1A3A50"/>
          </a:solidFill>
          <a:ln w="12700">
            <a:solidFill>
              <a:srgbClr val="1A3A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94360" y="3127248"/>
            <a:ext cx="731520" cy="1645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333756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D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33% available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91840" y="1097280"/>
            <a:ext cx="2651760" cy="2468880"/>
          </a:xfrm>
          <a:prstGeom prst="rect">
            <a:avLst/>
          </a:prstGeom>
          <a:solidFill>
            <a:srgbClr val="0D2F45"/>
          </a:solidFill>
          <a:ln w="6350">
            <a:solidFill>
              <a:srgbClr val="CCE0E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114800" y="118872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🏥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3429000" y="190195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General Ward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29000" y="230428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18 Available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429000" y="2743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D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40 total beds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520440" y="3127248"/>
            <a:ext cx="2194560" cy="164592"/>
          </a:xfrm>
          <a:prstGeom prst="rect">
            <a:avLst/>
          </a:prstGeom>
          <a:solidFill>
            <a:srgbClr val="1A3A50"/>
          </a:solidFill>
          <a:ln w="12700">
            <a:solidFill>
              <a:srgbClr val="1A3A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520440" y="3127248"/>
            <a:ext cx="987552" cy="1645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429000" y="333756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D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45% available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217920" y="1097280"/>
            <a:ext cx="2651760" cy="2468880"/>
          </a:xfrm>
          <a:prstGeom prst="rect">
            <a:avLst/>
          </a:prstGeom>
          <a:solidFill>
            <a:srgbClr val="0D2F45"/>
          </a:solidFill>
          <a:ln w="6350">
            <a:solidFill>
              <a:srgbClr val="CCE0E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040880" y="118872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🛁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6355080" y="190195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Private Rooms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355080" y="230428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 Available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355080" y="2743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D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20 total beds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446520" y="3127248"/>
            <a:ext cx="2194560" cy="164592"/>
          </a:xfrm>
          <a:prstGeom prst="rect">
            <a:avLst/>
          </a:prstGeom>
          <a:solidFill>
            <a:srgbClr val="1A3A50"/>
          </a:solidFill>
          <a:ln w="12700">
            <a:solidFill>
              <a:srgbClr val="1A3A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446520" y="3127248"/>
            <a:ext cx="658368" cy="16459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355080" y="333756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D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available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Benefit: Patients can identify available facilities before admission, reducing unnecessary visits.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D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data synced with hospital ward management system.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👨‍👩‍👧  ICU Family Update Portal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ICU families often have no way to receive timely updates about their loved one's condition.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554480"/>
            <a:ext cx="402336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CCE0E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1554480"/>
            <a:ext cx="73152" cy="12801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828800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💓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143000" y="16916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Patient Status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43000" y="2029968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condition updates accessible by authorized family members.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0" y="1554480"/>
            <a:ext cx="402336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CCE0E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572000" y="1554480"/>
            <a:ext cx="73152" cy="12801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754880" y="1828800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👨‍⚕️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440680" y="16916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Consultant Visit Updates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40680" y="2029968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when the doctor has reviewed or updated the treatment plan.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3063240"/>
            <a:ext cx="402336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CCE0E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74320" y="3063240"/>
            <a:ext cx="73152" cy="12801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7200" y="3337560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🚪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143000" y="32004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ICU Room Information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43000" y="3538728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number, ward details, and attending staff information.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0" y="3063240"/>
            <a:ext cx="402336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CCE0E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572000" y="3063240"/>
            <a:ext cx="73152" cy="12801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754880" y="3337560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🕐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5440680" y="32004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Visitor Schedules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40680" y="3538728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visiting hours and visitor management to maintain ICU protocols.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Benefit: Reduces anxiety for families and minimizes unnecessary hospital visits for updates.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👥  Hospital Crowd Monitoring Dashboard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1920240" cy="2743200"/>
          </a:xfrm>
          <a:prstGeom prst="rect">
            <a:avLst/>
          </a:prstGeom>
          <a:solidFill>
            <a:srgbClr val="0D2F45"/>
          </a:solidFill>
          <a:ln w="6350">
            <a:solidFill>
              <a:srgbClr val="CCE0E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11430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600200"/>
            <a:ext cx="1463040" cy="1371600"/>
          </a:xfrm>
          <a:prstGeom prst="rect">
            <a:avLst/>
          </a:prstGeom>
          <a:solidFill>
            <a:srgbClr val="162F40"/>
          </a:solidFill>
          <a:ln w="12700">
            <a:solidFill>
              <a:srgbClr val="162F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02920" y="1805940"/>
            <a:ext cx="1463040" cy="116586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17876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74C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85%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063240"/>
            <a:ext cx="1371600" cy="292608"/>
          </a:xfrm>
          <a:prstGeom prst="roundRect">
            <a:avLst>
              <a:gd name="adj" fmla="val 15625"/>
            </a:avLst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306324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23160" y="1051560"/>
            <a:ext cx="1920240" cy="2743200"/>
          </a:xfrm>
          <a:prstGeom prst="rect">
            <a:avLst/>
          </a:prstGeom>
          <a:solidFill>
            <a:srgbClr val="0D2F45"/>
          </a:solidFill>
          <a:ln w="6350">
            <a:solidFill>
              <a:srgbClr val="CCE0E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423160" y="11430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Pharmacy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651760" y="1600200"/>
            <a:ext cx="1463040" cy="1371600"/>
          </a:xfrm>
          <a:prstGeom prst="rect">
            <a:avLst/>
          </a:prstGeom>
          <a:solidFill>
            <a:srgbClr val="162F40"/>
          </a:solidFill>
          <a:ln w="12700">
            <a:solidFill>
              <a:srgbClr val="162F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651760" y="2217420"/>
            <a:ext cx="1463040" cy="75438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651760" y="219913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55%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697480" y="3063240"/>
            <a:ext cx="1371600" cy="292608"/>
          </a:xfrm>
          <a:prstGeom prst="roundRect">
            <a:avLst>
              <a:gd name="adj" fmla="val 15625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697480" y="306324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0" y="1051560"/>
            <a:ext cx="1920240" cy="2743200"/>
          </a:xfrm>
          <a:prstGeom prst="rect">
            <a:avLst/>
          </a:prstGeom>
          <a:solidFill>
            <a:srgbClr val="0D2F45"/>
          </a:solidFill>
          <a:ln w="6350">
            <a:solidFill>
              <a:srgbClr val="CCE0E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72000" y="11430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Laboratory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800600" y="1600200"/>
            <a:ext cx="1463040" cy="1371600"/>
          </a:xfrm>
          <a:prstGeom prst="rect">
            <a:avLst/>
          </a:prstGeom>
          <a:solidFill>
            <a:srgbClr val="162F40"/>
          </a:solidFill>
          <a:ln w="12700">
            <a:solidFill>
              <a:srgbClr val="162F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800600" y="2628900"/>
            <a:ext cx="1463040" cy="3429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00600" y="261061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7AE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25%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846320" y="3063240"/>
            <a:ext cx="1371600" cy="292608"/>
          </a:xfrm>
          <a:prstGeom prst="roundRect">
            <a:avLst>
              <a:gd name="adj" fmla="val 15625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846320" y="306324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720840" y="1051560"/>
            <a:ext cx="1920240" cy="2743200"/>
          </a:xfrm>
          <a:prstGeom prst="rect">
            <a:avLst/>
          </a:prstGeom>
          <a:solidFill>
            <a:srgbClr val="0D2F45"/>
          </a:solidFill>
          <a:ln w="6350">
            <a:solidFill>
              <a:srgbClr val="CCE0E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720840" y="11430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Emergency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949440" y="1600200"/>
            <a:ext cx="1463040" cy="1371600"/>
          </a:xfrm>
          <a:prstGeom prst="rect">
            <a:avLst/>
          </a:prstGeom>
          <a:solidFill>
            <a:srgbClr val="162F40"/>
          </a:solidFill>
          <a:ln w="12700">
            <a:solidFill>
              <a:srgbClr val="162F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949440" y="1737360"/>
            <a:ext cx="1463040" cy="123444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949440" y="171907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74C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90%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995160" y="3063240"/>
            <a:ext cx="1371600" cy="292608"/>
          </a:xfrm>
          <a:prstGeom prst="roundRect">
            <a:avLst>
              <a:gd name="adj" fmla="val 15625"/>
            </a:avLst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995160" y="306324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7200" y="3977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Crowd Levels: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286000" y="4078224"/>
            <a:ext cx="228600" cy="1371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2578608" y="402336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931920" y="4078224"/>
            <a:ext cx="228600" cy="13716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224528" y="402336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577840" y="4078224"/>
            <a:ext cx="228600" cy="13716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870448" y="402336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Benefit: Patients can plan their visit time to avoid crowded areas and reduce wait times.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🧭  Visitor Guidance System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40233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CCE0E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402336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234440"/>
            <a:ext cx="594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🔍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097280" y="1216152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Search Patient Room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97280" y="155448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Visitors can quickly search and locate the room number and ward of any admitted patient.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0" y="1051560"/>
            <a:ext cx="40233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CCE0E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72000" y="1051560"/>
            <a:ext cx="402336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09160" y="1234440"/>
            <a:ext cx="594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🏥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5394960" y="1216152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Ward Information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394960" y="155448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information about each ward including floor, nurse station, and facilities available.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2697480"/>
            <a:ext cx="40233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CCE0E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74320" y="2697480"/>
            <a:ext cx="4023360" cy="7315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11480" y="2880360"/>
            <a:ext cx="594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🕐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097280" y="2862072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Visiting Hours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97280" y="320040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Up-to-date visiting hours for each ward, including restricted hours for ICU and post-op wards.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0" y="2697480"/>
            <a:ext cx="40233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CCE0E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572000" y="2697480"/>
            <a:ext cx="4023360" cy="7315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709160" y="2880360"/>
            <a:ext cx="594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🗺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5394960" y="2862072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Navigation Assistance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394960" y="320040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indoor navigation from the hospital entrance to the patient's room.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42793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Benefit: Visitors can easily locate patients without needing to ask staff for directions.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💰  Treatment Cost Estimator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Allows patients to estimate treatment costs before visiting the hospital.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1920240" cy="2011680"/>
          </a:xfrm>
          <a:prstGeom prst="rect">
            <a:avLst/>
          </a:prstGeom>
          <a:solidFill>
            <a:srgbClr val="0D2F45"/>
          </a:solidFill>
          <a:ln w="6350">
            <a:solidFill>
              <a:srgbClr val="CCE0E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1554480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👨‍⚕️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Consultation Fee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26517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LKR 1,500 – 4,500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14600" y="1463040"/>
            <a:ext cx="1920240" cy="2011680"/>
          </a:xfrm>
          <a:prstGeom prst="rect">
            <a:avLst/>
          </a:prstGeom>
          <a:solidFill>
            <a:srgbClr val="0D2F45"/>
          </a:solidFill>
          <a:ln w="6350">
            <a:solidFill>
              <a:srgbClr val="CCE0E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063240" y="1554480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🧪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606040" y="21945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Laboratory Tests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560320" y="26517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LKR 800 – 8,000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1463040"/>
            <a:ext cx="1920240" cy="2011680"/>
          </a:xfrm>
          <a:prstGeom prst="rect">
            <a:avLst/>
          </a:prstGeom>
          <a:solidFill>
            <a:srgbClr val="0D2F45"/>
          </a:solidFill>
          <a:ln w="6350">
            <a:solidFill>
              <a:srgbClr val="CCE0E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212080" y="1554480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🔬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754880" y="21945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Scans (MRI/CT)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09160" y="26517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LKR 8,000 – 25,000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812280" y="1463040"/>
            <a:ext cx="1920240" cy="2011680"/>
          </a:xfrm>
          <a:prstGeom prst="rect">
            <a:avLst/>
          </a:prstGeom>
          <a:solidFill>
            <a:srgbClr val="0D2F45"/>
          </a:solidFill>
          <a:ln w="6350">
            <a:solidFill>
              <a:srgbClr val="CCE0E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360920" y="1554480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💊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903720" y="21945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Medicines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858000" y="26517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LKR 500 – 5,000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36576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It Works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65760" y="4069080"/>
            <a:ext cx="1920240" cy="594360"/>
          </a:xfrm>
          <a:prstGeom prst="rect">
            <a:avLst/>
          </a:prstGeom>
          <a:solidFill>
            <a:srgbClr val="0D3349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65760" y="40690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Select Department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286000" y="416052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2C39A"/>
                </a:solidFill>
              </a:rPr>
              <a:t>→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2514600" y="4069080"/>
            <a:ext cx="1920240" cy="594360"/>
          </a:xfrm>
          <a:prstGeom prst="rect">
            <a:avLst/>
          </a:prstGeom>
          <a:solidFill>
            <a:srgbClr val="0D3349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514600" y="40690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Choose Services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434840" y="416052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2C39A"/>
                </a:solidFill>
              </a:rPr>
              <a:t>→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663440" y="4069080"/>
            <a:ext cx="1920240" cy="594360"/>
          </a:xfrm>
          <a:prstGeom prst="rect">
            <a:avLst/>
          </a:prstGeom>
          <a:solidFill>
            <a:srgbClr val="0D3349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663440" y="40690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View Cost Estimate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583680" y="416052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2C39A"/>
                </a:solidFill>
              </a:rPr>
              <a:t>→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812280" y="4069080"/>
            <a:ext cx="1920240" cy="594360"/>
          </a:xfrm>
          <a:prstGeom prst="rect">
            <a:avLst/>
          </a:prstGeom>
          <a:solidFill>
            <a:srgbClr val="0D3349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812280" y="40690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Plan Your Visit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57200" y="4773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Benefit: Full cost transparency empowers patients to make informed decisions.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🧾  Live Bill Tracker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68580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CCE0E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2344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👨‍⚕️  Consultation Charges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669280" y="12344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LKR 3,500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498080" y="1261872"/>
            <a:ext cx="1645920" cy="320040"/>
          </a:xfrm>
          <a:prstGeom prst="rect">
            <a:avLst/>
          </a:prstGeom>
          <a:solidFill>
            <a:srgbClr val="E2EBF0"/>
          </a:solidFill>
          <a:ln w="12700">
            <a:solidFill>
              <a:srgbClr val="E2EB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498080" y="1261872"/>
            <a:ext cx="720090" cy="3200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" y="1874520"/>
            <a:ext cx="68580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CCE0E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201168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  Lab Charges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669280" y="20116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LKR 4,200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498080" y="2039112"/>
            <a:ext cx="1645920" cy="320040"/>
          </a:xfrm>
          <a:prstGeom prst="rect">
            <a:avLst/>
          </a:prstGeom>
          <a:solidFill>
            <a:srgbClr val="E2EBF0"/>
          </a:solidFill>
          <a:ln w="12700">
            <a:solidFill>
              <a:srgbClr val="E2EB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498080" y="2039112"/>
            <a:ext cx="864108" cy="3200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57200" y="2651760"/>
            <a:ext cx="68580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CCE0E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0080" y="278892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🛏  Room Charges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669280" y="27889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LKR 8,000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498080" y="2816352"/>
            <a:ext cx="1645920" cy="320040"/>
          </a:xfrm>
          <a:prstGeom prst="rect">
            <a:avLst/>
          </a:prstGeom>
          <a:solidFill>
            <a:srgbClr val="E2EBF0"/>
          </a:solidFill>
          <a:ln w="12700">
            <a:solidFill>
              <a:srgbClr val="E2EB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498080" y="2816352"/>
            <a:ext cx="1645920" cy="3200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57200" y="3429000"/>
            <a:ext cx="68580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CCE0E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40080" y="35661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💊  Pharmacy Charges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669280" y="35661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LKR 2,100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498080" y="3593592"/>
            <a:ext cx="1645920" cy="320040"/>
          </a:xfrm>
          <a:prstGeom prst="rect">
            <a:avLst/>
          </a:prstGeom>
          <a:solidFill>
            <a:srgbClr val="E2EBF0"/>
          </a:solidFill>
          <a:ln w="12700">
            <a:solidFill>
              <a:srgbClr val="E2EB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7498080" y="3593592"/>
            <a:ext cx="432054" cy="3200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57200" y="4279392"/>
            <a:ext cx="6858000" cy="50292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40080" y="42976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TOTAL BILL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029200" y="42976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LKR 17,800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57200" y="489204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Benefit: Patients monitor their expenses in real time, avoiding bill shock at discharge.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⚖  Hospital Branch Comparison Dashboard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560320" cy="457200"/>
          </a:xfrm>
          <a:prstGeom prst="rect">
            <a:avLst/>
          </a:prstGeom>
          <a:solidFill>
            <a:srgbClr val="0D3349"/>
          </a:solidFill>
          <a:ln w="635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10058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834640" y="1005840"/>
            <a:ext cx="2011680" cy="457200"/>
          </a:xfrm>
          <a:prstGeom prst="rect">
            <a:avLst/>
          </a:prstGeom>
          <a:solidFill>
            <a:srgbClr val="0D3349"/>
          </a:solidFill>
          <a:ln w="635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834640" y="10058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Branch 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(Colombo)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846320" y="1005840"/>
            <a:ext cx="2011680" cy="457200"/>
          </a:xfrm>
          <a:prstGeom prst="rect">
            <a:avLst/>
          </a:prstGeom>
          <a:solidFill>
            <a:srgbClr val="0D3349"/>
          </a:solidFill>
          <a:ln w="635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846320" y="10058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Branch B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(Kandy)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858000" y="1005840"/>
            <a:ext cx="2011680" cy="457200"/>
          </a:xfrm>
          <a:prstGeom prst="rect">
            <a:avLst/>
          </a:prstGeom>
          <a:solidFill>
            <a:srgbClr val="0D3349"/>
          </a:solidFill>
          <a:ln w="635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858000" y="10058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Branch C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(Galle)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1508760"/>
            <a:ext cx="2560320" cy="530352"/>
          </a:xfrm>
          <a:prstGeom prst="rect">
            <a:avLst/>
          </a:prstGeom>
          <a:solidFill>
            <a:srgbClr val="0D2030"/>
          </a:solidFill>
          <a:ln w="6350">
            <a:solidFill>
              <a:srgbClr val="1A3A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47472" y="1600200"/>
            <a:ext cx="24140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 Time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834640" y="1508760"/>
            <a:ext cx="2011680" cy="530352"/>
          </a:xfrm>
          <a:prstGeom prst="rect">
            <a:avLst/>
          </a:prstGeom>
          <a:solidFill>
            <a:srgbClr val="0D2030"/>
          </a:solidFill>
          <a:ln w="6350">
            <a:solidFill>
              <a:srgbClr val="1A3A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907792" y="1600200"/>
            <a:ext cx="1865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~45 min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46320" y="1508760"/>
            <a:ext cx="2011680" cy="530352"/>
          </a:xfrm>
          <a:prstGeom prst="rect">
            <a:avLst/>
          </a:prstGeom>
          <a:solidFill>
            <a:srgbClr val="0D2030"/>
          </a:solidFill>
          <a:ln w="6350">
            <a:solidFill>
              <a:srgbClr val="1A3A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919472" y="1600200"/>
            <a:ext cx="1865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 min ✓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858000" y="1508760"/>
            <a:ext cx="2011680" cy="530352"/>
          </a:xfrm>
          <a:prstGeom prst="rect">
            <a:avLst/>
          </a:prstGeom>
          <a:solidFill>
            <a:srgbClr val="0D2030"/>
          </a:solidFill>
          <a:ln w="6350">
            <a:solidFill>
              <a:srgbClr val="1A3A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931152" y="1600200"/>
            <a:ext cx="1865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~35 min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2075688"/>
            <a:ext cx="2560320" cy="530352"/>
          </a:xfrm>
          <a:prstGeom prst="rect">
            <a:avLst/>
          </a:prstGeom>
          <a:solidFill>
            <a:srgbClr val="0A1A28"/>
          </a:solidFill>
          <a:ln w="6350">
            <a:solidFill>
              <a:srgbClr val="1A3A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47472" y="2167128"/>
            <a:ext cx="24140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 Availability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834640" y="2075688"/>
            <a:ext cx="2011680" cy="530352"/>
          </a:xfrm>
          <a:prstGeom prst="rect">
            <a:avLst/>
          </a:prstGeom>
          <a:solidFill>
            <a:srgbClr val="0A1A28"/>
          </a:solidFill>
          <a:ln w="6350">
            <a:solidFill>
              <a:srgbClr val="1A3A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907792" y="2167128"/>
            <a:ext cx="1865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beds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46320" y="2075688"/>
            <a:ext cx="2011680" cy="530352"/>
          </a:xfrm>
          <a:prstGeom prst="rect">
            <a:avLst/>
          </a:prstGeom>
          <a:solidFill>
            <a:srgbClr val="0A1A28"/>
          </a:solidFill>
          <a:ln w="6350">
            <a:solidFill>
              <a:srgbClr val="1A3A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919472" y="2167128"/>
            <a:ext cx="1865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beds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858000" y="2075688"/>
            <a:ext cx="2011680" cy="530352"/>
          </a:xfrm>
          <a:prstGeom prst="rect">
            <a:avLst/>
          </a:prstGeom>
          <a:solidFill>
            <a:srgbClr val="0A1A28"/>
          </a:solidFill>
          <a:ln w="6350">
            <a:solidFill>
              <a:srgbClr val="1A3A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931152" y="2167128"/>
            <a:ext cx="1865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beds ✓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" y="2642616"/>
            <a:ext cx="2560320" cy="530352"/>
          </a:xfrm>
          <a:prstGeom prst="rect">
            <a:avLst/>
          </a:prstGeom>
          <a:solidFill>
            <a:srgbClr val="0D2030"/>
          </a:solidFill>
          <a:ln w="6350">
            <a:solidFill>
              <a:srgbClr val="1A3A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47472" y="2734056"/>
            <a:ext cx="24140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Parking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834640" y="2642616"/>
            <a:ext cx="2011680" cy="530352"/>
          </a:xfrm>
          <a:prstGeom prst="rect">
            <a:avLst/>
          </a:prstGeom>
          <a:solidFill>
            <a:srgbClr val="0D2030"/>
          </a:solidFill>
          <a:ln w="6350">
            <a:solidFill>
              <a:srgbClr val="1A3A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907792" y="2734056"/>
            <a:ext cx="1865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846320" y="2642616"/>
            <a:ext cx="2011680" cy="530352"/>
          </a:xfrm>
          <a:prstGeom prst="rect">
            <a:avLst/>
          </a:prstGeom>
          <a:solidFill>
            <a:srgbClr val="0D2030"/>
          </a:solidFill>
          <a:ln w="6350">
            <a:solidFill>
              <a:srgbClr val="1A3A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919472" y="2734056"/>
            <a:ext cx="1865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✓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858000" y="2642616"/>
            <a:ext cx="2011680" cy="530352"/>
          </a:xfrm>
          <a:prstGeom prst="rect">
            <a:avLst/>
          </a:prstGeom>
          <a:solidFill>
            <a:srgbClr val="0D2030"/>
          </a:solidFill>
          <a:ln w="6350">
            <a:solidFill>
              <a:srgbClr val="1A3A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931152" y="2734056"/>
            <a:ext cx="1865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✓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74320" y="3209544"/>
            <a:ext cx="2560320" cy="530352"/>
          </a:xfrm>
          <a:prstGeom prst="rect">
            <a:avLst/>
          </a:prstGeom>
          <a:solidFill>
            <a:srgbClr val="0A1A28"/>
          </a:solidFill>
          <a:ln w="6350">
            <a:solidFill>
              <a:srgbClr val="1A3A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47472" y="3300984"/>
            <a:ext cx="24140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 Doctors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834640" y="3209544"/>
            <a:ext cx="2011680" cy="530352"/>
          </a:xfrm>
          <a:prstGeom prst="rect">
            <a:avLst/>
          </a:prstGeom>
          <a:solidFill>
            <a:srgbClr val="0A1A28"/>
          </a:solidFill>
          <a:ln w="6350">
            <a:solidFill>
              <a:srgbClr val="1A3A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2907792" y="3300984"/>
            <a:ext cx="1865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✓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846320" y="3209544"/>
            <a:ext cx="2011680" cy="530352"/>
          </a:xfrm>
          <a:prstGeom prst="rect">
            <a:avLst/>
          </a:prstGeom>
          <a:solidFill>
            <a:srgbClr val="0A1A28"/>
          </a:solidFill>
          <a:ln w="6350">
            <a:solidFill>
              <a:srgbClr val="1A3A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919472" y="3300984"/>
            <a:ext cx="1865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858000" y="3209544"/>
            <a:ext cx="2011680" cy="530352"/>
          </a:xfrm>
          <a:prstGeom prst="rect">
            <a:avLst/>
          </a:prstGeom>
          <a:solidFill>
            <a:srgbClr val="0A1A28"/>
          </a:solidFill>
          <a:ln w="6350">
            <a:solidFill>
              <a:srgbClr val="1A3A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931152" y="3300984"/>
            <a:ext cx="1865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74320" y="3776472"/>
            <a:ext cx="2560320" cy="530352"/>
          </a:xfrm>
          <a:prstGeom prst="rect">
            <a:avLst/>
          </a:prstGeom>
          <a:solidFill>
            <a:srgbClr val="0D2030"/>
          </a:solidFill>
          <a:ln w="6350">
            <a:solidFill>
              <a:srgbClr val="1A3A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347472" y="3867912"/>
            <a:ext cx="24140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Consultation Cost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2834640" y="3776472"/>
            <a:ext cx="2011680" cy="530352"/>
          </a:xfrm>
          <a:prstGeom prst="rect">
            <a:avLst/>
          </a:prstGeom>
          <a:solidFill>
            <a:srgbClr val="0D2030"/>
          </a:solidFill>
          <a:ln w="6350">
            <a:solidFill>
              <a:srgbClr val="1A3A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2907792" y="3867912"/>
            <a:ext cx="1865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LKR 3,500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846320" y="3776472"/>
            <a:ext cx="2011680" cy="530352"/>
          </a:xfrm>
          <a:prstGeom prst="rect">
            <a:avLst/>
          </a:prstGeom>
          <a:solidFill>
            <a:srgbClr val="0D2030"/>
          </a:solidFill>
          <a:ln w="6350">
            <a:solidFill>
              <a:srgbClr val="1A3A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4919472" y="3867912"/>
            <a:ext cx="1865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LKR 2,800 ✓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858000" y="3776472"/>
            <a:ext cx="2011680" cy="530352"/>
          </a:xfrm>
          <a:prstGeom prst="rect">
            <a:avLst/>
          </a:prstGeom>
          <a:solidFill>
            <a:srgbClr val="0D2030"/>
          </a:solidFill>
          <a:ln w="6350">
            <a:solidFill>
              <a:srgbClr val="1A3A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6931152" y="3867912"/>
            <a:ext cx="1865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LKR 3,200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Benefit: Patients can choose the most suitable hospital branch based on real data.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⭐  Department Feedback System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28600" y="1051560"/>
            <a:ext cx="155448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CCE0E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28600" y="1051560"/>
            <a:ext cx="155448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1887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👨‍⚕️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228600" y="1883664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Doctors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28600" y="22402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4A261"/>
                </a:solidFill>
              </a:rPr>
              <a:t>★★★★☆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28600" y="267004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2E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4.6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965960" y="1051560"/>
            <a:ext cx="155448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CCE0E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965960" y="1051560"/>
            <a:ext cx="155448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286000" y="11887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👩‍⚕️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965960" y="1883664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Nurses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965960" y="22402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4A261"/>
                </a:solidFill>
              </a:rPr>
              <a:t>★★★★☆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965960" y="267004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2E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4.4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703320" y="1051560"/>
            <a:ext cx="155448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CCE0E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703320" y="1051560"/>
            <a:ext cx="155448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023360" y="11887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🧪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3703320" y="1883664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Laboratory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703320" y="22402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4A261"/>
                </a:solidFill>
              </a:rPr>
              <a:t>★★★★☆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703320" y="267004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2E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4.2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440680" y="1051560"/>
            <a:ext cx="155448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CCE0E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440680" y="1051560"/>
            <a:ext cx="155448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760720" y="11887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💊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5440680" y="1883664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Pharmacy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40680" y="22402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4A261"/>
                </a:solidFill>
              </a:rPr>
              <a:t>★★★☆☆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440680" y="267004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2E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3.9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178040" y="1051560"/>
            <a:ext cx="155448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CCE0E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7178040" y="1051560"/>
            <a:ext cx="155448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498080" y="11887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🗂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7178040" y="1883664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Reception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178040" y="22402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4A261"/>
                </a:solidFill>
              </a:rPr>
              <a:t>★★★★☆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178040" y="267004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2E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4.1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457200" y="3749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274320" y="4133088"/>
            <a:ext cx="1920240" cy="594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274320" y="4133088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Patient completes visit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194560" y="4224528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A2540"/>
                </a:solidFill>
              </a:rPr>
              <a:t>→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2423160" y="4133088"/>
            <a:ext cx="1920240" cy="594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2423160" y="4133088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Receives feedback request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343400" y="4224528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A2540"/>
                </a:solidFill>
              </a:rPr>
              <a:t>→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4572000" y="4133088"/>
            <a:ext cx="1920240" cy="594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572000" y="4133088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Rates each department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492240" y="4224528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A2540"/>
                </a:solidFill>
              </a:rPr>
              <a:t>→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6720840" y="4133088"/>
            <a:ext cx="1920240" cy="594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720840" y="4133088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Data analyzed for improvement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Benefit: Supports continuous service improvement based on direct patient experience.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Users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28600" y="1005840"/>
            <a:ext cx="1965960" cy="3794760"/>
          </a:xfrm>
          <a:prstGeom prst="rect">
            <a:avLst/>
          </a:prstGeom>
          <a:solidFill>
            <a:srgbClr val="0D2F45"/>
          </a:solidFill>
          <a:ln w="6350">
            <a:solidFill>
              <a:srgbClr val="CCE0E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28600" y="1005840"/>
            <a:ext cx="196596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1078992"/>
            <a:ext cx="1051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🧑‍💼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228600" y="1792224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Patient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2194560"/>
            <a:ext cx="173736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E2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&amp; Login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E2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Appointments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E2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Queue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E2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Live Bills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E2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Treatment Cost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423160" y="1005840"/>
            <a:ext cx="1965960" cy="3794760"/>
          </a:xfrm>
          <a:prstGeom prst="rect">
            <a:avLst/>
          </a:prstGeom>
          <a:solidFill>
            <a:srgbClr val="0D2F45"/>
          </a:solidFill>
          <a:ln w="6350">
            <a:solidFill>
              <a:srgbClr val="CCE0E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423160" y="1005840"/>
            <a:ext cx="196596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880360" y="1078992"/>
            <a:ext cx="1051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👨‍👩‍👧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423160" y="1792224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Family Member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560320" y="2194560"/>
            <a:ext cx="173736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E2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ICU Updates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E2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Visitor Info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E2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Notifications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E2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Patient Status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17720" y="1005840"/>
            <a:ext cx="1965960" cy="3794760"/>
          </a:xfrm>
          <a:prstGeom prst="rect">
            <a:avLst/>
          </a:prstGeom>
          <a:solidFill>
            <a:srgbClr val="0D2F45"/>
          </a:solidFill>
          <a:ln w="6350">
            <a:solidFill>
              <a:srgbClr val="CCE0E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617720" y="1005840"/>
            <a:ext cx="196596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74920" y="1078992"/>
            <a:ext cx="1051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👨‍⚕️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4617720" y="1792224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Doctor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54880" y="2194560"/>
            <a:ext cx="173736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E2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Appointments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E2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Patient Status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E2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Queue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E2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Patient History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812280" y="1005840"/>
            <a:ext cx="1965960" cy="3794760"/>
          </a:xfrm>
          <a:prstGeom prst="rect">
            <a:avLst/>
          </a:prstGeom>
          <a:solidFill>
            <a:srgbClr val="0D2F45"/>
          </a:solidFill>
          <a:ln w="6350">
            <a:solidFill>
              <a:srgbClr val="CCE0E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812280" y="1005840"/>
            <a:ext cx="1965960" cy="5486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269480" y="1078992"/>
            <a:ext cx="1051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⚙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6812280" y="1792224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Administrator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949440" y="2194560"/>
            <a:ext cx="173736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E2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Doctors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E2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Patients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E2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Departments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E2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Beds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E2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Billing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🗄  Database Design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214884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CCE0E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320040" cy="7498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123444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⊞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58368" y="125272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606040" y="1051560"/>
            <a:ext cx="214884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CCE0E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606040" y="1051560"/>
            <a:ext cx="320040" cy="7498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606040" y="123444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⊞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990088" y="125272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937760" y="1051560"/>
            <a:ext cx="214884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CCE0E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937760" y="1051560"/>
            <a:ext cx="320040" cy="7498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937760" y="123444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⊞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321808" y="125272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269480" y="1051560"/>
            <a:ext cx="214884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CCE0E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269480" y="1051560"/>
            <a:ext cx="320040" cy="7498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269480" y="123444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⊞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653528" y="125272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1965960"/>
            <a:ext cx="214884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CCE0E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74320" y="1965960"/>
            <a:ext cx="320040" cy="7498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74320" y="214884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⊞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8368" y="216712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606040" y="1965960"/>
            <a:ext cx="214884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CCE0E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2606040" y="1965960"/>
            <a:ext cx="320040" cy="7498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606040" y="214884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⊞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990088" y="216712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937760" y="1965960"/>
            <a:ext cx="214884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CCE0E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937760" y="1965960"/>
            <a:ext cx="320040" cy="7498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937760" y="214884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⊞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321808" y="216712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ICU_Status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269480" y="1965960"/>
            <a:ext cx="214884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CCE0E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7269480" y="1965960"/>
            <a:ext cx="320040" cy="7498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7269480" y="214884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⊞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7653528" y="216712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74320" y="2880360"/>
            <a:ext cx="214884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CCE0E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274320" y="2880360"/>
            <a:ext cx="320040" cy="7498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274320" y="306324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⊞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58368" y="308152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Queue_Management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2606040" y="2880360"/>
            <a:ext cx="214884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CCE0E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2606040" y="2880360"/>
            <a:ext cx="320040" cy="7498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2606040" y="306324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⊞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2990088" y="308152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937760" y="2880360"/>
            <a:ext cx="214884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CCE0E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4937760" y="2880360"/>
            <a:ext cx="320040" cy="7498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4937760" y="306324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⊞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5321808" y="308152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Hospital_Locations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3493008" y="2880360"/>
            <a:ext cx="214884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CCE0E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3493008" y="2880360"/>
            <a:ext cx="320040" cy="7498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3493008" y="306324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⊞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3877056" y="308152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Hospital_Locations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core database tables supporting all MediFlow+ features and user roles.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Expected Outcomes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651760" cy="1508760"/>
          </a:xfrm>
          <a:prstGeom prst="rect">
            <a:avLst/>
          </a:prstGeom>
          <a:solidFill>
            <a:srgbClr val="0D2F45"/>
          </a:solidFill>
          <a:ln w="6350">
            <a:solidFill>
              <a:srgbClr val="CCE0E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84048" y="12618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😊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097280" y="111556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Better Patient Experience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" y="155448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D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enjoy a smoother, more informed journey from arrival to discharge.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46120" y="1005840"/>
            <a:ext cx="2651760" cy="1508760"/>
          </a:xfrm>
          <a:prstGeom prst="rect">
            <a:avLst/>
          </a:prstGeom>
          <a:solidFill>
            <a:srgbClr val="0D2F45"/>
          </a:solidFill>
          <a:ln w="6350">
            <a:solidFill>
              <a:srgbClr val="CCE0E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355848" y="12618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⏱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069080" y="111556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Reduced Waiting Frustration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069080" y="155448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D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queue data eliminates the uncertainty of waiting without information.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1005840"/>
            <a:ext cx="2651760" cy="1508760"/>
          </a:xfrm>
          <a:prstGeom prst="rect">
            <a:avLst/>
          </a:prstGeom>
          <a:solidFill>
            <a:srgbClr val="0D2F45"/>
          </a:solidFill>
          <a:ln w="6350">
            <a:solidFill>
              <a:srgbClr val="CCE0E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327648" y="12618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💬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7040880" y="111556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Improved Communication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040880" y="155448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D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ICU families stay informed; departments receive structured feedback.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" y="2743200"/>
            <a:ext cx="2651760" cy="1508760"/>
          </a:xfrm>
          <a:prstGeom prst="rect">
            <a:avLst/>
          </a:prstGeom>
          <a:solidFill>
            <a:srgbClr val="0D2F45"/>
          </a:solidFill>
          <a:ln w="6350">
            <a:solidFill>
              <a:srgbClr val="CCE0E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84048" y="29992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097280" y="285292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Better Resource Utilization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97280" y="329184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D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Hospitals optimize bed management and department capacity with live data.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46120" y="2743200"/>
            <a:ext cx="2651760" cy="1508760"/>
          </a:xfrm>
          <a:prstGeom prst="rect">
            <a:avLst/>
          </a:prstGeom>
          <a:solidFill>
            <a:srgbClr val="0D2F45"/>
          </a:solidFill>
          <a:ln w="6350">
            <a:solidFill>
              <a:srgbClr val="CCE0E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355848" y="29992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💡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4069080" y="285292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Increased Transparency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069080" y="329184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D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estimators and live bill trackers remove financial surprises.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217920" y="2743200"/>
            <a:ext cx="2651760" cy="1508760"/>
          </a:xfrm>
          <a:prstGeom prst="rect">
            <a:avLst/>
          </a:prstGeom>
          <a:solidFill>
            <a:srgbClr val="0D2F45"/>
          </a:solidFill>
          <a:ln w="6350">
            <a:solidFill>
              <a:srgbClr val="CCE0E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327648" y="29992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⭐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7040880" y="285292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Higher Patient Satisfaction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040880" y="329184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D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system drives continuous improvement across all departments.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7200" y="4425696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MediFlow+ delivers measurable improvements across every stage of the patient experience.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657600" y="0"/>
            <a:ext cx="7315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325880" y="1188720"/>
            <a:ext cx="100584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773936" y="749808"/>
            <a:ext cx="1828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82880" y="19202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MediFlow+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82880" y="26060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0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Hospital Management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D0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Sri Lanka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28600" y="4480560"/>
            <a:ext cx="594360" cy="256032"/>
          </a:xfrm>
          <a:prstGeom prst="roundRect">
            <a:avLst>
              <a:gd name="adj" fmla="val 17857"/>
            </a:avLst>
          </a:prstGeom>
          <a:solidFill>
            <a:srgbClr val="0A2540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28600" y="448056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886968" y="4480560"/>
            <a:ext cx="594360" cy="256032"/>
          </a:xfrm>
          <a:prstGeom prst="roundRect">
            <a:avLst>
              <a:gd name="adj" fmla="val 17857"/>
            </a:avLst>
          </a:prstGeom>
          <a:solidFill>
            <a:srgbClr val="0A2540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86968" y="448056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1545336" y="4480560"/>
            <a:ext cx="594360" cy="256032"/>
          </a:xfrm>
          <a:prstGeom prst="roundRect">
            <a:avLst>
              <a:gd name="adj" fmla="val 17857"/>
            </a:avLst>
          </a:prstGeom>
          <a:solidFill>
            <a:srgbClr val="0A2540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545336" y="448056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2203704" y="4480560"/>
            <a:ext cx="594360" cy="256032"/>
          </a:xfrm>
          <a:prstGeom prst="roundRect">
            <a:avLst>
              <a:gd name="adj" fmla="val 17857"/>
            </a:avLst>
          </a:prstGeom>
          <a:solidFill>
            <a:srgbClr val="0A2540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203704" y="448056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2862072" y="4480560"/>
            <a:ext cx="594360" cy="256032"/>
          </a:xfrm>
          <a:prstGeom prst="roundRect">
            <a:avLst>
              <a:gd name="adj" fmla="val 17857"/>
            </a:avLst>
          </a:prstGeom>
          <a:solidFill>
            <a:srgbClr val="0A2540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862072" y="448056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3931920" y="54864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3931920" y="114300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MediFlow+ is a smart hospital management solution designed specifically for Sri Lankan private hospitals.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931920" y="1920240"/>
            <a:ext cx="49377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existing hospital services with 10 innovative features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Navigation &amp; Real-Time Queue Tracking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 Management &amp; ICU Family Communication Portal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Cost Estimator &amp; Live Bill Tracker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Branch Comparison Dashboard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Feedback for Continuous Improvement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931920" y="461772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Delivering a complete patient-centered healthcare experience.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1424</Words>
  <Application>Microsoft Office PowerPoint</Application>
  <PresentationFormat>On-screen Show (16:9)</PresentationFormat>
  <Paragraphs>413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MediFlow+ Proposal</dc:title>
  <dc:subject>PptxGenJS Presentation</dc:subject>
  <dc:creator>Group 01</dc:creator>
  <cp:lastModifiedBy>Mahroof Mohammed Manasir</cp:lastModifiedBy>
  <cp:revision>1</cp:revision>
  <dcterms:created xsi:type="dcterms:W3CDTF">2026-06-07T12:07:15Z</dcterms:created>
  <dcterms:modified xsi:type="dcterms:W3CDTF">2026-07-19T14:20:04Z</dcterms:modified>
</cp:coreProperties>
</file>